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7" r:id="rId5"/>
    <p:sldId id="257" r:id="rId6"/>
    <p:sldId id="259" r:id="rId7"/>
    <p:sldId id="268" r:id="rId8"/>
    <p:sldId id="269" r:id="rId9"/>
    <p:sldId id="270" r:id="rId10"/>
    <p:sldId id="271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9" d="100"/>
          <a:sy n="109" d="100"/>
        </p:scale>
        <p:origin x="-1674" y="-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EC61-E1B1-4D72-AF80-FB86C16B0ED2}" type="datetimeFigureOut">
              <a:rPr lang="ko-KR" altLang="en-US" smtClean="0"/>
              <a:t>2014-08-04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22E6-27E0-4DC5-B624-7DD889F19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419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EC61-E1B1-4D72-AF80-FB86C16B0ED2}" type="datetimeFigureOut">
              <a:rPr lang="ko-KR" altLang="en-US" smtClean="0"/>
              <a:t>2014-08-04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22E6-27E0-4DC5-B624-7DD889F19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131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EC61-E1B1-4D72-AF80-FB86C16B0ED2}" type="datetimeFigureOut">
              <a:rPr lang="ko-KR" altLang="en-US" smtClean="0"/>
              <a:t>2014-08-04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22E6-27E0-4DC5-B624-7DD889F19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96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EC61-E1B1-4D72-AF80-FB86C16B0ED2}" type="datetimeFigureOut">
              <a:rPr lang="ko-KR" altLang="en-US" smtClean="0"/>
              <a:t>2014-08-04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22E6-27E0-4DC5-B624-7DD889F19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622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EC61-E1B1-4D72-AF80-FB86C16B0ED2}" type="datetimeFigureOut">
              <a:rPr lang="ko-KR" altLang="en-US" smtClean="0"/>
              <a:t>2014-08-04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22E6-27E0-4DC5-B624-7DD889F19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69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EC61-E1B1-4D72-AF80-FB86C16B0ED2}" type="datetimeFigureOut">
              <a:rPr lang="ko-KR" altLang="en-US" smtClean="0"/>
              <a:t>2014-08-04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22E6-27E0-4DC5-B624-7DD889F19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741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EC61-E1B1-4D72-AF80-FB86C16B0ED2}" type="datetimeFigureOut">
              <a:rPr lang="ko-KR" altLang="en-US" smtClean="0"/>
              <a:t>2014-08-04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22E6-27E0-4DC5-B624-7DD889F19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1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EC61-E1B1-4D72-AF80-FB86C16B0ED2}" type="datetimeFigureOut">
              <a:rPr lang="ko-KR" altLang="en-US" smtClean="0"/>
              <a:t>2014-08-04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22E6-27E0-4DC5-B624-7DD889F19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027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EC61-E1B1-4D72-AF80-FB86C16B0ED2}" type="datetimeFigureOut">
              <a:rPr lang="ko-KR" altLang="en-US" smtClean="0"/>
              <a:t>2014-08-04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22E6-27E0-4DC5-B624-7DD889F19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08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EC61-E1B1-4D72-AF80-FB86C16B0ED2}" type="datetimeFigureOut">
              <a:rPr lang="ko-KR" altLang="en-US" smtClean="0"/>
              <a:t>2014-08-04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22E6-27E0-4DC5-B624-7DD889F19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034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EC61-E1B1-4D72-AF80-FB86C16B0ED2}" type="datetimeFigureOut">
              <a:rPr lang="ko-KR" altLang="en-US" smtClean="0"/>
              <a:t>2014-08-04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22E6-27E0-4DC5-B624-7DD889F19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220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EEC61-E1B1-4D72-AF80-FB86C16B0ED2}" type="datetimeFigureOut">
              <a:rPr lang="ko-KR" altLang="en-US" smtClean="0"/>
              <a:t>2014-08-04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E22E6-27E0-4DC5-B624-7DD889F19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925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제목 133"/>
          <p:cNvSpPr>
            <a:spLocks noGrp="1"/>
          </p:cNvSpPr>
          <p:nvPr>
            <p:ph type="ctrTitle"/>
          </p:nvPr>
        </p:nvSpPr>
        <p:spPr>
          <a:xfrm>
            <a:off x="832048" y="548680"/>
            <a:ext cx="7772400" cy="5760641"/>
          </a:xfrm>
        </p:spPr>
        <p:txBody>
          <a:bodyPr>
            <a:normAutofit/>
          </a:bodyPr>
          <a:lstStyle/>
          <a:p>
            <a:r>
              <a:rPr lang="en-US" altLang="ko-KR" sz="5400" dirty="0" err="1">
                <a:solidFill>
                  <a:schemeClr val="bg1"/>
                </a:solidFill>
              </a:rPr>
              <a:t>meerkat</a:t>
            </a:r>
            <a:r>
              <a:rPr lang="en-US" altLang="ko-KR" sz="5400" dirty="0">
                <a:solidFill>
                  <a:schemeClr val="bg1"/>
                </a:solidFill>
              </a:rPr>
              <a:t> </a:t>
            </a:r>
            <a:r>
              <a:rPr lang="en-US" altLang="ko-KR" sz="5400" dirty="0" smtClean="0">
                <a:solidFill>
                  <a:schemeClr val="bg1"/>
                </a:solidFill>
              </a:rPr>
              <a:t/>
            </a:r>
            <a:br>
              <a:rPr lang="en-US" altLang="ko-KR" sz="5400" dirty="0" smtClean="0">
                <a:solidFill>
                  <a:schemeClr val="bg1"/>
                </a:solidFill>
              </a:rPr>
            </a:br>
            <a:r>
              <a:rPr lang="en-US" altLang="ko-KR" dirty="0" smtClean="0">
                <a:solidFill>
                  <a:schemeClr val="bg1"/>
                </a:solidFill>
              </a:rPr>
              <a:t/>
            </a:r>
            <a:br>
              <a:rPr lang="en-US" altLang="ko-KR" dirty="0" smtClean="0">
                <a:solidFill>
                  <a:schemeClr val="bg1"/>
                </a:solidFill>
              </a:rPr>
            </a:br>
            <a:r>
              <a:rPr lang="en-US" altLang="ko-KR" dirty="0" smtClean="0">
                <a:solidFill>
                  <a:schemeClr val="bg1"/>
                </a:solidFill>
              </a:rPr>
              <a:t>-</a:t>
            </a:r>
            <a:r>
              <a:rPr lang="ko-KR" altLang="en-US" sz="3600" dirty="0" smtClean="0">
                <a:solidFill>
                  <a:schemeClr val="bg1"/>
                </a:solidFill>
              </a:rPr>
              <a:t>프로젝트</a:t>
            </a:r>
            <a:r>
              <a:rPr lang="en-US" altLang="ko-KR" sz="3600" dirty="0" smtClean="0">
                <a:solidFill>
                  <a:schemeClr val="bg1"/>
                </a:solidFill>
              </a:rPr>
              <a:t> </a:t>
            </a:r>
            <a:r>
              <a:rPr lang="ko-KR" altLang="en-US" sz="3600" dirty="0" smtClean="0">
                <a:solidFill>
                  <a:schemeClr val="bg1"/>
                </a:solidFill>
              </a:rPr>
              <a:t>중간발표</a:t>
            </a:r>
            <a:r>
              <a:rPr lang="en-US" altLang="ko-KR" sz="3600" dirty="0" smtClean="0">
                <a:solidFill>
                  <a:schemeClr val="bg1"/>
                </a:solidFill>
              </a:rPr>
              <a:t>-</a:t>
            </a:r>
            <a:r>
              <a:rPr lang="en-US" altLang="ko-KR" dirty="0" smtClean="0">
                <a:solidFill>
                  <a:schemeClr val="bg1"/>
                </a:solidFill>
              </a:rPr>
              <a:t/>
            </a:r>
            <a:br>
              <a:rPr lang="en-US" altLang="ko-KR" dirty="0" smtClean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/>
            </a:r>
            <a:br>
              <a:rPr lang="en-US" altLang="ko-KR" dirty="0">
                <a:solidFill>
                  <a:schemeClr val="bg1"/>
                </a:solidFill>
              </a:rPr>
            </a:b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320480" y="4581128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altLang="ko-KR" dirty="0" smtClean="0">
                <a:solidFill>
                  <a:schemeClr val="bg1"/>
                </a:solidFill>
              </a:rPr>
              <a:t>3</a:t>
            </a:r>
            <a:r>
              <a:rPr lang="ko-KR" altLang="en-US" dirty="0" smtClean="0">
                <a:solidFill>
                  <a:schemeClr val="bg1"/>
                </a:solidFill>
              </a:rPr>
              <a:t>학년 </a:t>
            </a:r>
            <a:r>
              <a:rPr lang="en-US" altLang="ko-KR" dirty="0" smtClean="0">
                <a:solidFill>
                  <a:schemeClr val="bg1"/>
                </a:solidFill>
              </a:rPr>
              <a:t>A</a:t>
            </a:r>
            <a:r>
              <a:rPr lang="ko-KR" altLang="en-US" dirty="0" smtClean="0">
                <a:solidFill>
                  <a:schemeClr val="bg1"/>
                </a:solidFill>
              </a:rPr>
              <a:t>반</a:t>
            </a:r>
            <a:endParaRPr lang="en-US" altLang="ko-KR" dirty="0" smtClean="0">
              <a:solidFill>
                <a:schemeClr val="bg1"/>
              </a:solidFill>
            </a:endParaRPr>
          </a:p>
          <a:p>
            <a:pPr algn="r"/>
            <a:endParaRPr lang="en-US" altLang="ko-KR" dirty="0" smtClean="0">
              <a:solidFill>
                <a:schemeClr val="bg1"/>
              </a:solidFill>
            </a:endParaRPr>
          </a:p>
          <a:p>
            <a:pPr algn="r"/>
            <a:r>
              <a:rPr lang="ko-KR" altLang="en-US" dirty="0" smtClean="0">
                <a:solidFill>
                  <a:schemeClr val="bg1"/>
                </a:solidFill>
              </a:rPr>
              <a:t>동승일</a:t>
            </a:r>
            <a:r>
              <a:rPr lang="en-US" altLang="ko-KR" dirty="0">
                <a:solidFill>
                  <a:schemeClr val="bg1"/>
                </a:solidFill>
              </a:rPr>
              <a:t/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이상민</a:t>
            </a:r>
            <a:r>
              <a:rPr lang="en-US" altLang="ko-KR" dirty="0">
                <a:solidFill>
                  <a:schemeClr val="bg1"/>
                </a:solidFill>
              </a:rPr>
              <a:t/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 err="1">
                <a:solidFill>
                  <a:schemeClr val="bg1"/>
                </a:solidFill>
              </a:rPr>
              <a:t>정해덕</a:t>
            </a:r>
            <a:r>
              <a:rPr lang="en-US" altLang="ko-KR" dirty="0">
                <a:solidFill>
                  <a:schemeClr val="bg1"/>
                </a:solidFill>
              </a:rPr>
              <a:t/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김학성</a:t>
            </a:r>
            <a:r>
              <a:rPr lang="en-US" altLang="ko-KR" dirty="0">
                <a:solidFill>
                  <a:schemeClr val="bg1"/>
                </a:solidFill>
              </a:rPr>
              <a:t/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이상협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5803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제목 131"/>
          <p:cNvSpPr>
            <a:spLocks noGrp="1"/>
          </p:cNvSpPr>
          <p:nvPr>
            <p:ph type="ctrTitle"/>
          </p:nvPr>
        </p:nvSpPr>
        <p:spPr>
          <a:xfrm>
            <a:off x="2776264" y="2132856"/>
            <a:ext cx="4460032" cy="2522711"/>
          </a:xfrm>
        </p:spPr>
        <p:txBody>
          <a:bodyPr>
            <a:noAutofit/>
          </a:bodyPr>
          <a:lstStyle/>
          <a:p>
            <a:pPr algn="l"/>
            <a:r>
              <a:rPr lang="en-US" altLang="ko-KR" sz="3200" dirty="0" smtClean="0">
                <a:solidFill>
                  <a:schemeClr val="bg1"/>
                </a:solidFill>
              </a:rPr>
              <a:t/>
            </a:r>
            <a:br>
              <a:rPr lang="en-US" altLang="ko-KR" sz="3200" dirty="0" smtClean="0">
                <a:solidFill>
                  <a:schemeClr val="bg1"/>
                </a:solidFill>
              </a:rPr>
            </a:br>
            <a:r>
              <a:rPr lang="en-US" altLang="ko-KR" sz="3200" dirty="0">
                <a:solidFill>
                  <a:schemeClr val="bg1"/>
                </a:solidFill>
              </a:rPr>
              <a:t/>
            </a:r>
            <a:br>
              <a:rPr lang="en-US" altLang="ko-KR" sz="3200" dirty="0">
                <a:solidFill>
                  <a:schemeClr val="bg1"/>
                </a:solidFill>
              </a:rPr>
            </a:br>
            <a:r>
              <a:rPr lang="en-US" altLang="ko-KR" sz="3200" dirty="0" smtClean="0">
                <a:solidFill>
                  <a:schemeClr val="bg1"/>
                </a:solidFill>
              </a:rPr>
              <a:t>1. </a:t>
            </a:r>
            <a:r>
              <a:rPr lang="ko-KR" altLang="en-US" sz="3200" dirty="0" smtClean="0">
                <a:solidFill>
                  <a:schemeClr val="bg1"/>
                </a:solidFill>
              </a:rPr>
              <a:t>프로젝트 개요</a:t>
            </a:r>
            <a:r>
              <a:rPr lang="en-US" altLang="ko-KR" sz="3200" dirty="0" smtClean="0">
                <a:solidFill>
                  <a:schemeClr val="bg1"/>
                </a:solidFill>
              </a:rPr>
              <a:t/>
            </a:r>
            <a:br>
              <a:rPr lang="en-US" altLang="ko-KR" sz="3200" dirty="0" smtClean="0">
                <a:solidFill>
                  <a:schemeClr val="bg1"/>
                </a:solidFill>
              </a:rPr>
            </a:br>
            <a:r>
              <a:rPr lang="en-US" altLang="ko-KR" sz="3200" dirty="0">
                <a:solidFill>
                  <a:schemeClr val="bg1"/>
                </a:solidFill>
              </a:rPr>
              <a:t/>
            </a:r>
            <a:br>
              <a:rPr lang="en-US" altLang="ko-KR" sz="3200" dirty="0">
                <a:solidFill>
                  <a:schemeClr val="bg1"/>
                </a:solidFill>
              </a:rPr>
            </a:br>
            <a:r>
              <a:rPr lang="en-US" altLang="ko-KR" sz="3200" dirty="0">
                <a:solidFill>
                  <a:schemeClr val="bg1"/>
                </a:solidFill>
              </a:rPr>
              <a:t>2</a:t>
            </a:r>
            <a:r>
              <a:rPr lang="en-US" altLang="ko-KR" sz="3200" dirty="0" smtClean="0">
                <a:solidFill>
                  <a:schemeClr val="bg1"/>
                </a:solidFill>
              </a:rPr>
              <a:t>. </a:t>
            </a:r>
            <a:r>
              <a:rPr lang="ko-KR" altLang="en-US" sz="3200" dirty="0" smtClean="0">
                <a:solidFill>
                  <a:schemeClr val="bg1"/>
                </a:solidFill>
              </a:rPr>
              <a:t>시스</a:t>
            </a:r>
            <a:r>
              <a:rPr lang="ko-KR" altLang="en-US" sz="3200" dirty="0">
                <a:solidFill>
                  <a:schemeClr val="bg1"/>
                </a:solidFill>
              </a:rPr>
              <a:t>템</a:t>
            </a:r>
            <a:r>
              <a:rPr lang="ko-KR" altLang="en-US" sz="3200" dirty="0" smtClean="0">
                <a:solidFill>
                  <a:schemeClr val="bg1"/>
                </a:solidFill>
              </a:rPr>
              <a:t> 구성도</a:t>
            </a:r>
            <a:r>
              <a:rPr lang="en-US" altLang="ko-KR" sz="3200" dirty="0" smtClean="0">
                <a:solidFill>
                  <a:schemeClr val="bg1"/>
                </a:solidFill>
              </a:rPr>
              <a:t/>
            </a:r>
            <a:br>
              <a:rPr lang="en-US" altLang="ko-KR" sz="3200" dirty="0" smtClean="0">
                <a:solidFill>
                  <a:schemeClr val="bg1"/>
                </a:solidFill>
              </a:rPr>
            </a:br>
            <a:r>
              <a:rPr lang="en-US" altLang="ko-KR" sz="3200" dirty="0" smtClean="0">
                <a:solidFill>
                  <a:schemeClr val="bg1"/>
                </a:solidFill>
              </a:rPr>
              <a:t/>
            </a:r>
            <a:br>
              <a:rPr lang="en-US" altLang="ko-KR" sz="3200" dirty="0" smtClean="0">
                <a:solidFill>
                  <a:schemeClr val="bg1"/>
                </a:solidFill>
              </a:rPr>
            </a:br>
            <a:r>
              <a:rPr lang="en-US" altLang="ko-KR" sz="3200" dirty="0" smtClean="0">
                <a:solidFill>
                  <a:schemeClr val="bg1"/>
                </a:solidFill>
              </a:rPr>
              <a:t>3. </a:t>
            </a:r>
            <a:r>
              <a:rPr lang="ko-KR" altLang="en-US" sz="3200" dirty="0" smtClean="0">
                <a:solidFill>
                  <a:schemeClr val="bg1"/>
                </a:solidFill>
              </a:rPr>
              <a:t>지식지도 생성 절차</a:t>
            </a:r>
            <a:r>
              <a:rPr lang="en-US" altLang="ko-KR" sz="3200" dirty="0" smtClean="0">
                <a:solidFill>
                  <a:schemeClr val="bg1"/>
                </a:solidFill>
              </a:rPr>
              <a:t/>
            </a:r>
            <a:br>
              <a:rPr lang="en-US" altLang="ko-KR" sz="3200" dirty="0" smtClean="0">
                <a:solidFill>
                  <a:schemeClr val="bg1"/>
                </a:solidFill>
              </a:rPr>
            </a:br>
            <a:r>
              <a:rPr lang="en-US" altLang="ko-KR" sz="3200" dirty="0" smtClean="0">
                <a:solidFill>
                  <a:schemeClr val="bg1"/>
                </a:solidFill>
              </a:rPr>
              <a:t/>
            </a:r>
            <a:br>
              <a:rPr lang="en-US" altLang="ko-KR" sz="3200" dirty="0" smtClean="0">
                <a:solidFill>
                  <a:schemeClr val="bg1"/>
                </a:solidFill>
              </a:rPr>
            </a:br>
            <a:r>
              <a:rPr lang="en-US" altLang="ko-KR" sz="3200" dirty="0" smtClean="0">
                <a:solidFill>
                  <a:schemeClr val="bg1"/>
                </a:solidFill>
              </a:rPr>
              <a:t>4. </a:t>
            </a:r>
            <a:r>
              <a:rPr lang="ko-KR" altLang="en-US" sz="3200" dirty="0" smtClean="0">
                <a:solidFill>
                  <a:schemeClr val="bg1"/>
                </a:solidFill>
              </a:rPr>
              <a:t>알고리즘 소개</a:t>
            </a:r>
            <a:r>
              <a:rPr lang="en-US" altLang="ko-KR" sz="3200" dirty="0" smtClean="0">
                <a:solidFill>
                  <a:schemeClr val="bg1"/>
                </a:solidFill>
              </a:rPr>
              <a:t/>
            </a:r>
            <a:br>
              <a:rPr lang="en-US" altLang="ko-KR" sz="3200" dirty="0" smtClean="0">
                <a:solidFill>
                  <a:schemeClr val="bg1"/>
                </a:solidFill>
              </a:rPr>
            </a:br>
            <a:r>
              <a:rPr lang="en-US" altLang="ko-KR" sz="3200" dirty="0" smtClean="0">
                <a:solidFill>
                  <a:schemeClr val="bg1"/>
                </a:solidFill>
              </a:rPr>
              <a:t/>
            </a:r>
            <a:br>
              <a:rPr lang="en-US" altLang="ko-KR" sz="3200" dirty="0" smtClean="0">
                <a:solidFill>
                  <a:schemeClr val="bg1"/>
                </a:solidFill>
              </a:rPr>
            </a:br>
            <a:r>
              <a:rPr lang="en-US" altLang="ko-KR" sz="3200" dirty="0" smtClean="0">
                <a:solidFill>
                  <a:schemeClr val="bg1"/>
                </a:solidFill>
              </a:rPr>
              <a:t>5. </a:t>
            </a:r>
            <a:r>
              <a:rPr lang="ko-KR" altLang="en-US" sz="3200" dirty="0" smtClean="0">
                <a:solidFill>
                  <a:schemeClr val="bg1"/>
                </a:solidFill>
              </a:rPr>
              <a:t>문제점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3851920" y="332656"/>
            <a:ext cx="17929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5400" dirty="0" smtClean="0">
                <a:solidFill>
                  <a:schemeClr val="bg1"/>
                </a:solidFill>
              </a:rPr>
              <a:t>목차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794970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5496" y="44624"/>
            <a:ext cx="4896544" cy="864096"/>
          </a:xfrm>
        </p:spPr>
        <p:txBody>
          <a:bodyPr>
            <a:normAutofit/>
          </a:bodyPr>
          <a:lstStyle/>
          <a:p>
            <a:r>
              <a:rPr lang="en-US" altLang="ko-KR" sz="4000" dirty="0" smtClean="0">
                <a:solidFill>
                  <a:schemeClr val="bg1"/>
                </a:solidFill>
              </a:rPr>
              <a:t>1. </a:t>
            </a:r>
            <a:r>
              <a:rPr lang="ko-KR" altLang="en-US" sz="4000" dirty="0" smtClean="0">
                <a:solidFill>
                  <a:schemeClr val="bg1"/>
                </a:solidFill>
              </a:rPr>
              <a:t>프로젝트 개요</a:t>
            </a:r>
            <a:endParaRPr lang="ko-KR" altLang="en-US" sz="4000" dirty="0">
              <a:solidFill>
                <a:schemeClr val="bg1"/>
              </a:solidFill>
            </a:endParaRPr>
          </a:p>
        </p:txBody>
      </p:sp>
      <p:sp>
        <p:nvSpPr>
          <p:cNvPr id="29" name="제목 1"/>
          <p:cNvSpPr txBox="1">
            <a:spLocks/>
          </p:cNvSpPr>
          <p:nvPr/>
        </p:nvSpPr>
        <p:spPr>
          <a:xfrm>
            <a:off x="142338" y="548680"/>
            <a:ext cx="8894158" cy="58326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 err="1">
                <a:solidFill>
                  <a:schemeClr val="bg1"/>
                </a:solidFill>
              </a:rPr>
              <a:t>meerkat</a:t>
            </a:r>
            <a:r>
              <a:rPr lang="ko-KR" altLang="en-US" sz="3200" dirty="0">
                <a:solidFill>
                  <a:schemeClr val="bg1"/>
                </a:solidFill>
              </a:rPr>
              <a:t>이란</a:t>
            </a:r>
            <a:r>
              <a:rPr lang="en-US" altLang="ko-KR" sz="3200" dirty="0">
                <a:solidFill>
                  <a:schemeClr val="bg1"/>
                </a:solidFill>
              </a:rPr>
              <a:t>?</a:t>
            </a:r>
          </a:p>
          <a:p>
            <a:pPr algn="l"/>
            <a:endParaRPr lang="en-US" altLang="ko-KR" sz="3200" dirty="0">
              <a:solidFill>
                <a:schemeClr val="bg1"/>
              </a:solidFill>
            </a:endParaRPr>
          </a:p>
          <a:p>
            <a:pPr algn="l"/>
            <a:r>
              <a:rPr lang="ko-KR" altLang="en-US" sz="1600" dirty="0">
                <a:solidFill>
                  <a:schemeClr val="bg1"/>
                </a:solidFill>
              </a:rPr>
              <a:t>  특정분야의 </a:t>
            </a:r>
            <a:r>
              <a:rPr lang="ko-KR" altLang="en-US" sz="1600" dirty="0" err="1">
                <a:solidFill>
                  <a:schemeClr val="bg1"/>
                </a:solidFill>
              </a:rPr>
              <a:t>웹문서들을</a:t>
            </a:r>
            <a:r>
              <a:rPr lang="ko-KR" altLang="en-US" sz="1600" dirty="0">
                <a:solidFill>
                  <a:schemeClr val="bg1"/>
                </a:solidFill>
              </a:rPr>
              <a:t> 토대로 작성된 지식지도와 </a:t>
            </a:r>
            <a:r>
              <a:rPr lang="ko-KR" altLang="en-US" sz="1600" dirty="0" err="1" smtClean="0">
                <a:solidFill>
                  <a:schemeClr val="bg1"/>
                </a:solidFill>
              </a:rPr>
              <a:t>웹문서들의</a:t>
            </a:r>
            <a:r>
              <a:rPr lang="ko-KR" altLang="en-US" sz="1600" dirty="0" smtClean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검색결과를 웹을 통해 사용자에게 </a:t>
            </a:r>
            <a:r>
              <a:rPr lang="ko-KR" altLang="en-US" sz="1600" dirty="0" smtClean="0">
                <a:solidFill>
                  <a:schemeClr val="bg1"/>
                </a:solidFill>
              </a:rPr>
              <a:t>제공함으로써</a:t>
            </a:r>
            <a:r>
              <a:rPr lang="en-US" altLang="ko-KR" sz="1600" dirty="0" smtClean="0">
                <a:solidFill>
                  <a:schemeClr val="bg1"/>
                </a:solidFill>
              </a:rPr>
              <a:t>, </a:t>
            </a:r>
            <a:r>
              <a:rPr lang="ko-KR" altLang="en-US" sz="1600" dirty="0" err="1" smtClean="0">
                <a:solidFill>
                  <a:schemeClr val="bg1"/>
                </a:solidFill>
              </a:rPr>
              <a:t>지식맵을</a:t>
            </a:r>
            <a:r>
              <a:rPr lang="ko-KR" altLang="en-US" sz="1600" dirty="0" smtClean="0">
                <a:solidFill>
                  <a:schemeClr val="bg1"/>
                </a:solidFill>
              </a:rPr>
              <a:t> 통한</a:t>
            </a:r>
            <a:r>
              <a:rPr lang="en-US" altLang="ko-KR" sz="1600" dirty="0" smtClean="0">
                <a:solidFill>
                  <a:schemeClr val="bg1"/>
                </a:solidFill>
              </a:rPr>
              <a:t> </a:t>
            </a:r>
            <a:r>
              <a:rPr lang="ko-KR" altLang="en-US" sz="1600" dirty="0" smtClean="0">
                <a:solidFill>
                  <a:schemeClr val="bg1"/>
                </a:solidFill>
              </a:rPr>
              <a:t>사용자의 효과적인 학습을 목표로 하는 </a:t>
            </a:r>
            <a:r>
              <a:rPr lang="ko-KR" altLang="en-US" sz="1600" dirty="0">
                <a:solidFill>
                  <a:schemeClr val="bg1"/>
                </a:solidFill>
              </a:rPr>
              <a:t>검색엔진</a:t>
            </a:r>
            <a:r>
              <a:rPr lang="en-US" altLang="ko-KR" sz="1600" dirty="0" smtClean="0">
                <a:solidFill>
                  <a:schemeClr val="bg1"/>
                </a:solidFill>
              </a:rPr>
              <a:t>.</a:t>
            </a:r>
          </a:p>
          <a:p>
            <a:pPr algn="l"/>
            <a:endParaRPr lang="ko-KR" altLang="en-US" sz="3200" dirty="0">
              <a:solidFill>
                <a:schemeClr val="bg1"/>
              </a:solidFill>
            </a:endParaRPr>
          </a:p>
          <a:p>
            <a:pPr algn="l"/>
            <a:endParaRPr lang="en-US" altLang="ko-KR" sz="3200" dirty="0" smtClean="0">
              <a:solidFill>
                <a:schemeClr val="bg1"/>
              </a:solidFill>
            </a:endParaRPr>
          </a:p>
          <a:p>
            <a:pPr algn="l"/>
            <a:r>
              <a:rPr lang="ko-KR" altLang="en-US" sz="3200" dirty="0" smtClean="0">
                <a:solidFill>
                  <a:schemeClr val="bg1"/>
                </a:solidFill>
              </a:rPr>
              <a:t>프로젝트 목적</a:t>
            </a:r>
            <a:endParaRPr lang="en-US" altLang="ko-KR" sz="3200" dirty="0" smtClean="0">
              <a:solidFill>
                <a:schemeClr val="bg1"/>
              </a:solidFill>
            </a:endParaRPr>
          </a:p>
          <a:p>
            <a:pPr algn="l"/>
            <a:endParaRPr lang="en-US" altLang="ko-KR" sz="3200" dirty="0">
              <a:solidFill>
                <a:schemeClr val="bg1"/>
              </a:solidFill>
            </a:endParaRPr>
          </a:p>
          <a:p>
            <a:pPr algn="l"/>
            <a:r>
              <a:rPr lang="ko-KR" altLang="en-US" sz="1600" dirty="0" smtClean="0">
                <a:solidFill>
                  <a:schemeClr val="bg1"/>
                </a:solidFill>
              </a:rPr>
              <a:t>  웹을 대상으로 하여 특정분야</a:t>
            </a:r>
            <a:r>
              <a:rPr lang="en-US" altLang="ko-KR" sz="1600" dirty="0" smtClean="0">
                <a:solidFill>
                  <a:schemeClr val="bg1"/>
                </a:solidFill>
              </a:rPr>
              <a:t>(</a:t>
            </a:r>
            <a:r>
              <a:rPr lang="ko-KR" altLang="en-US" sz="1600" dirty="0" smtClean="0">
                <a:solidFill>
                  <a:schemeClr val="bg1"/>
                </a:solidFill>
              </a:rPr>
              <a:t>국사분야</a:t>
            </a:r>
            <a:r>
              <a:rPr lang="en-US" altLang="ko-KR" sz="1600" dirty="0" smtClean="0">
                <a:solidFill>
                  <a:schemeClr val="bg1"/>
                </a:solidFill>
              </a:rPr>
              <a:t>)</a:t>
            </a:r>
            <a:r>
              <a:rPr lang="ko-KR" altLang="en-US" sz="1600" dirty="0" smtClean="0">
                <a:solidFill>
                  <a:schemeClr val="bg1"/>
                </a:solidFill>
              </a:rPr>
              <a:t>에 관련된 문서를 수집하고</a:t>
            </a:r>
            <a:r>
              <a:rPr lang="en-US" altLang="ko-KR" sz="1600" dirty="0" smtClean="0">
                <a:solidFill>
                  <a:schemeClr val="bg1"/>
                </a:solidFill>
              </a:rPr>
              <a:t>, </a:t>
            </a:r>
            <a:r>
              <a:rPr lang="ko-KR" altLang="en-US" sz="1600" dirty="0" smtClean="0">
                <a:solidFill>
                  <a:schemeClr val="bg1"/>
                </a:solidFill>
              </a:rPr>
              <a:t>수집된 문서를 특정 지식</a:t>
            </a:r>
            <a:r>
              <a:rPr lang="en-US" altLang="ko-KR" sz="1600" dirty="0" smtClean="0">
                <a:solidFill>
                  <a:schemeClr val="bg1"/>
                </a:solidFill>
              </a:rPr>
              <a:t>(</a:t>
            </a:r>
            <a:r>
              <a:rPr lang="ko-KR" altLang="en-US" sz="1600" dirty="0" smtClean="0">
                <a:solidFill>
                  <a:schemeClr val="bg1"/>
                </a:solidFill>
              </a:rPr>
              <a:t>문서의 주제</a:t>
            </a:r>
            <a:r>
              <a:rPr lang="en-US" altLang="ko-KR" sz="1600" dirty="0" smtClean="0">
                <a:solidFill>
                  <a:schemeClr val="bg1"/>
                </a:solidFill>
              </a:rPr>
              <a:t>)</a:t>
            </a:r>
            <a:r>
              <a:rPr lang="ko-KR" altLang="en-US" sz="1600" dirty="0" smtClean="0">
                <a:solidFill>
                  <a:schemeClr val="bg1"/>
                </a:solidFill>
              </a:rPr>
              <a:t>에 따라 군집화 한 후 이들 지식간의 관계를 설정 함으로써 지식지도를 작성하는 것</a:t>
            </a:r>
            <a:r>
              <a:rPr lang="en-US" altLang="ko-KR" sz="1600" dirty="0" smtClean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264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3276364" y="1988840"/>
            <a:ext cx="1440160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Document</a:t>
            </a:r>
          </a:p>
          <a:p>
            <a:pPr algn="ctr"/>
            <a:r>
              <a:rPr lang="en-US" altLang="ko-KR" dirty="0" smtClean="0"/>
              <a:t>Server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7740352" y="3219334"/>
            <a:ext cx="1160442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Web</a:t>
            </a:r>
          </a:p>
          <a:p>
            <a:pPr algn="ctr"/>
            <a:r>
              <a:rPr lang="en-US" altLang="ko-KR" dirty="0" smtClean="0"/>
              <a:t>Server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396044" y="3558001"/>
            <a:ext cx="1224644" cy="42046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Crawler</a:t>
            </a:r>
          </a:p>
        </p:txBody>
      </p:sp>
      <p:cxnSp>
        <p:nvCxnSpPr>
          <p:cNvPr id="12" name="직선 화살표 연결선 11"/>
          <p:cNvCxnSpPr>
            <a:stCxn id="44" idx="3"/>
            <a:endCxn id="37" idx="2"/>
          </p:cNvCxnSpPr>
          <p:nvPr/>
        </p:nvCxnSpPr>
        <p:spPr>
          <a:xfrm>
            <a:off x="4716524" y="5373216"/>
            <a:ext cx="656386" cy="20325"/>
          </a:xfrm>
          <a:prstGeom prst="straightConnector1">
            <a:avLst/>
          </a:prstGeom>
          <a:ln w="28575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6" idx="0"/>
            <a:endCxn id="3" idx="4"/>
          </p:cNvCxnSpPr>
          <p:nvPr/>
        </p:nvCxnSpPr>
        <p:spPr>
          <a:xfrm flipH="1" flipV="1">
            <a:off x="6741062" y="2221143"/>
            <a:ext cx="1579511" cy="998191"/>
          </a:xfrm>
          <a:prstGeom prst="straightConnector1">
            <a:avLst/>
          </a:prstGeom>
          <a:ln w="28575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10" idx="3"/>
            <a:endCxn id="43" idx="1"/>
          </p:cNvCxnSpPr>
          <p:nvPr/>
        </p:nvCxnSpPr>
        <p:spPr>
          <a:xfrm>
            <a:off x="1620688" y="3768233"/>
            <a:ext cx="1655676" cy="20807"/>
          </a:xfrm>
          <a:prstGeom prst="straightConnector1">
            <a:avLst/>
          </a:prstGeom>
          <a:ln w="28575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43" idx="3"/>
            <a:endCxn id="36" idx="2"/>
          </p:cNvCxnSpPr>
          <p:nvPr/>
        </p:nvCxnSpPr>
        <p:spPr>
          <a:xfrm>
            <a:off x="4716524" y="3789040"/>
            <a:ext cx="656387" cy="20325"/>
          </a:xfrm>
          <a:prstGeom prst="straightConnector1">
            <a:avLst/>
          </a:prstGeom>
          <a:ln w="28575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4" idx="3"/>
            <a:endCxn id="3" idx="2"/>
          </p:cNvCxnSpPr>
          <p:nvPr/>
        </p:nvCxnSpPr>
        <p:spPr>
          <a:xfrm>
            <a:off x="4716524" y="2204864"/>
            <a:ext cx="656387" cy="16279"/>
          </a:xfrm>
          <a:prstGeom prst="straightConnector1">
            <a:avLst/>
          </a:prstGeom>
          <a:ln w="28575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순서도: 자기 디스크 2"/>
          <p:cNvSpPr/>
          <p:nvPr/>
        </p:nvSpPr>
        <p:spPr>
          <a:xfrm>
            <a:off x="5372911" y="1525434"/>
            <a:ext cx="1368151" cy="1391418"/>
          </a:xfrm>
          <a:prstGeom prst="flowChartMagneticDisk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Document</a:t>
            </a:r>
          </a:p>
          <a:p>
            <a:pPr algn="ctr"/>
            <a:r>
              <a:rPr lang="en-US" altLang="ko-KR" dirty="0" smtClean="0"/>
              <a:t>DB</a:t>
            </a:r>
            <a:endParaRPr lang="ko-KR" altLang="en-US" dirty="0"/>
          </a:p>
        </p:txBody>
      </p:sp>
      <p:sp>
        <p:nvSpPr>
          <p:cNvPr id="36" name="순서도: 자기 디스크 35"/>
          <p:cNvSpPr/>
          <p:nvPr/>
        </p:nvSpPr>
        <p:spPr>
          <a:xfrm>
            <a:off x="5372911" y="3109610"/>
            <a:ext cx="1368152" cy="1399510"/>
          </a:xfrm>
          <a:prstGeom prst="flowChartMagneticDisk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Keyword</a:t>
            </a:r>
          </a:p>
          <a:p>
            <a:pPr algn="ctr"/>
            <a:r>
              <a:rPr lang="en-US" altLang="ko-KR" dirty="0" smtClean="0"/>
              <a:t>DB</a:t>
            </a:r>
            <a:endParaRPr lang="ko-KR" altLang="en-US" dirty="0"/>
          </a:p>
        </p:txBody>
      </p:sp>
      <p:sp>
        <p:nvSpPr>
          <p:cNvPr id="37" name="순서도: 자기 디스크 36"/>
          <p:cNvSpPr/>
          <p:nvPr/>
        </p:nvSpPr>
        <p:spPr>
          <a:xfrm>
            <a:off x="5372910" y="4693786"/>
            <a:ext cx="1359837" cy="1399510"/>
          </a:xfrm>
          <a:prstGeom prst="flowChartMagneticDisk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URL</a:t>
            </a:r>
          </a:p>
          <a:p>
            <a:pPr algn="ctr"/>
            <a:r>
              <a:rPr lang="en-US" altLang="ko-KR" dirty="0" smtClean="0"/>
              <a:t>DB</a:t>
            </a:r>
            <a:endParaRPr lang="ko-KR" altLang="en-US" dirty="0"/>
          </a:p>
        </p:txBody>
      </p:sp>
      <p:sp>
        <p:nvSpPr>
          <p:cNvPr id="43" name="모서리가 둥근 직사각형 42"/>
          <p:cNvSpPr/>
          <p:nvPr/>
        </p:nvSpPr>
        <p:spPr>
          <a:xfrm>
            <a:off x="3276364" y="3573016"/>
            <a:ext cx="1440160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Keyword</a:t>
            </a:r>
          </a:p>
          <a:p>
            <a:pPr algn="ctr"/>
            <a:r>
              <a:rPr lang="en-US" altLang="ko-KR" dirty="0" smtClean="0"/>
              <a:t>Server</a:t>
            </a:r>
          </a:p>
        </p:txBody>
      </p:sp>
      <p:sp>
        <p:nvSpPr>
          <p:cNvPr id="44" name="모서리가 둥근 직사각형 43"/>
          <p:cNvSpPr/>
          <p:nvPr/>
        </p:nvSpPr>
        <p:spPr>
          <a:xfrm>
            <a:off x="3276364" y="5157192"/>
            <a:ext cx="1440160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URL</a:t>
            </a:r>
          </a:p>
          <a:p>
            <a:pPr algn="ctr"/>
            <a:r>
              <a:rPr lang="en-US" altLang="ko-KR" dirty="0" smtClean="0"/>
              <a:t>Server</a:t>
            </a:r>
          </a:p>
        </p:txBody>
      </p:sp>
      <p:sp>
        <p:nvSpPr>
          <p:cNvPr id="60" name="모서리가 둥근 직사각형 59"/>
          <p:cNvSpPr/>
          <p:nvPr/>
        </p:nvSpPr>
        <p:spPr>
          <a:xfrm>
            <a:off x="396044" y="2899378"/>
            <a:ext cx="1224644" cy="42046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Crawler</a:t>
            </a:r>
          </a:p>
        </p:txBody>
      </p:sp>
      <p:sp>
        <p:nvSpPr>
          <p:cNvPr id="61" name="모서리가 둥근 직사각형 60"/>
          <p:cNvSpPr/>
          <p:nvPr/>
        </p:nvSpPr>
        <p:spPr>
          <a:xfrm>
            <a:off x="395536" y="4185140"/>
            <a:ext cx="1224644" cy="42046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Crawler</a:t>
            </a:r>
          </a:p>
        </p:txBody>
      </p:sp>
      <p:cxnSp>
        <p:nvCxnSpPr>
          <p:cNvPr id="49" name="직선 연결선 48"/>
          <p:cNvCxnSpPr>
            <a:stCxn id="60" idx="3"/>
          </p:cNvCxnSpPr>
          <p:nvPr/>
        </p:nvCxnSpPr>
        <p:spPr>
          <a:xfrm>
            <a:off x="1620688" y="3109610"/>
            <a:ext cx="647564" cy="0"/>
          </a:xfrm>
          <a:prstGeom prst="line">
            <a:avLst/>
          </a:pr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1620180" y="4365104"/>
            <a:ext cx="647564" cy="0"/>
          </a:xfrm>
          <a:prstGeom prst="line">
            <a:avLst/>
          </a:pr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 flipV="1">
            <a:off x="2268252" y="3109610"/>
            <a:ext cx="0" cy="658623"/>
          </a:xfrm>
          <a:prstGeom prst="line">
            <a:avLst/>
          </a:pr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 flipV="1">
            <a:off x="2267744" y="3789040"/>
            <a:ext cx="508" cy="566682"/>
          </a:xfrm>
          <a:prstGeom prst="line">
            <a:avLst/>
          </a:pr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endCxn id="44" idx="1"/>
          </p:cNvCxnSpPr>
          <p:nvPr/>
        </p:nvCxnSpPr>
        <p:spPr>
          <a:xfrm>
            <a:off x="2267744" y="3789040"/>
            <a:ext cx="1008620" cy="1584176"/>
          </a:xfrm>
          <a:prstGeom prst="straightConnector1">
            <a:avLst/>
          </a:prstGeom>
          <a:ln w="28575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>
            <a:stCxn id="43" idx="0"/>
            <a:endCxn id="4" idx="2"/>
          </p:cNvCxnSpPr>
          <p:nvPr/>
        </p:nvCxnSpPr>
        <p:spPr>
          <a:xfrm flipV="1">
            <a:off x="3996444" y="2420888"/>
            <a:ext cx="0" cy="1152128"/>
          </a:xfrm>
          <a:prstGeom prst="straightConnector1">
            <a:avLst/>
          </a:prstGeom>
          <a:ln w="28575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모서리가 둥근 직사각형 84"/>
          <p:cNvSpPr/>
          <p:nvPr/>
        </p:nvSpPr>
        <p:spPr>
          <a:xfrm>
            <a:off x="7750907" y="4725144"/>
            <a:ext cx="1160442" cy="57606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Client</a:t>
            </a:r>
            <a:endParaRPr lang="ko-KR" altLang="en-US" dirty="0"/>
          </a:p>
        </p:txBody>
      </p:sp>
      <p:cxnSp>
        <p:nvCxnSpPr>
          <p:cNvPr id="86" name="직선 화살표 연결선 85"/>
          <p:cNvCxnSpPr>
            <a:stCxn id="85" idx="0"/>
            <a:endCxn id="6" idx="2"/>
          </p:cNvCxnSpPr>
          <p:nvPr/>
        </p:nvCxnSpPr>
        <p:spPr>
          <a:xfrm flipH="1" flipV="1">
            <a:off x="8320573" y="3795398"/>
            <a:ext cx="10555" cy="929746"/>
          </a:xfrm>
          <a:prstGeom prst="straightConnector1">
            <a:avLst/>
          </a:prstGeom>
          <a:ln w="28575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모서리가 둥근 직사각형 88"/>
          <p:cNvSpPr/>
          <p:nvPr/>
        </p:nvSpPr>
        <p:spPr>
          <a:xfrm>
            <a:off x="7380312" y="476672"/>
            <a:ext cx="1440160" cy="11207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Inside Document Collector</a:t>
            </a:r>
          </a:p>
          <a:p>
            <a:pPr algn="ctr"/>
            <a:r>
              <a:rPr lang="en-US" altLang="ko-KR" dirty="0" smtClean="0"/>
              <a:t>Server</a:t>
            </a:r>
          </a:p>
        </p:txBody>
      </p:sp>
      <p:cxnSp>
        <p:nvCxnSpPr>
          <p:cNvPr id="91" name="직선 화살표 연결선 90"/>
          <p:cNvCxnSpPr>
            <a:stCxn id="89" idx="2"/>
            <a:endCxn id="3" idx="4"/>
          </p:cNvCxnSpPr>
          <p:nvPr/>
        </p:nvCxnSpPr>
        <p:spPr>
          <a:xfrm flipH="1">
            <a:off x="6741062" y="1597442"/>
            <a:ext cx="1359330" cy="623701"/>
          </a:xfrm>
          <a:prstGeom prst="straightConnector1">
            <a:avLst/>
          </a:prstGeom>
          <a:ln w="28575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제목 1"/>
          <p:cNvSpPr txBox="1">
            <a:spLocks/>
          </p:cNvSpPr>
          <p:nvPr/>
        </p:nvSpPr>
        <p:spPr>
          <a:xfrm>
            <a:off x="-468560" y="44624"/>
            <a:ext cx="4896544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solidFill>
                  <a:schemeClr val="bg1"/>
                </a:solidFill>
              </a:rPr>
              <a:t>2</a:t>
            </a:r>
            <a:r>
              <a:rPr lang="en-US" altLang="ko-KR" sz="3600" dirty="0" smtClean="0">
                <a:solidFill>
                  <a:schemeClr val="bg1"/>
                </a:solidFill>
              </a:rPr>
              <a:t>. </a:t>
            </a:r>
            <a:r>
              <a:rPr lang="ko-KR" altLang="en-US" sz="3600" dirty="0" smtClean="0">
                <a:solidFill>
                  <a:schemeClr val="bg1"/>
                </a:solidFill>
              </a:rPr>
              <a:t>시스템 구성도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01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-36512" y="188640"/>
            <a:ext cx="5472608" cy="576064"/>
          </a:xfrm>
        </p:spPr>
        <p:txBody>
          <a:bodyPr>
            <a:noAutofit/>
          </a:bodyPr>
          <a:lstStyle/>
          <a:p>
            <a:r>
              <a:rPr lang="en-US" altLang="ko-KR" sz="4000" dirty="0" smtClean="0">
                <a:solidFill>
                  <a:schemeClr val="bg1"/>
                </a:solidFill>
              </a:rPr>
              <a:t>3. </a:t>
            </a:r>
            <a:r>
              <a:rPr lang="ko-KR" altLang="en-US" sz="4000" dirty="0" smtClean="0">
                <a:solidFill>
                  <a:schemeClr val="bg1"/>
                </a:solidFill>
              </a:rPr>
              <a:t>지식지도 생성절차</a:t>
            </a:r>
            <a:endParaRPr lang="ko-KR" altLang="en-US" sz="4000" dirty="0">
              <a:solidFill>
                <a:schemeClr val="bg1"/>
              </a:solidFill>
            </a:endParaRPr>
          </a:p>
        </p:txBody>
      </p:sp>
      <p:sp>
        <p:nvSpPr>
          <p:cNvPr id="33" name="제목 2"/>
          <p:cNvSpPr txBox="1">
            <a:spLocks/>
          </p:cNvSpPr>
          <p:nvPr/>
        </p:nvSpPr>
        <p:spPr>
          <a:xfrm>
            <a:off x="2699792" y="4293096"/>
            <a:ext cx="4320480" cy="50405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/>
              <a:t>5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키워드 연관성 검사 </a:t>
            </a:r>
            <a:r>
              <a:rPr lang="en-US" altLang="ko-KR" sz="2000" dirty="0" smtClean="0"/>
              <a:t>(PCA)</a:t>
            </a:r>
            <a:endParaRPr lang="ko-KR" altLang="en-US" sz="2000" dirty="0"/>
          </a:p>
        </p:txBody>
      </p:sp>
      <p:sp>
        <p:nvSpPr>
          <p:cNvPr id="34" name="제목 2"/>
          <p:cNvSpPr txBox="1">
            <a:spLocks/>
          </p:cNvSpPr>
          <p:nvPr/>
        </p:nvSpPr>
        <p:spPr>
          <a:xfrm>
            <a:off x="2771800" y="3501008"/>
            <a:ext cx="4176464" cy="504056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/>
              <a:t>4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본문 적합성 검사</a:t>
            </a:r>
            <a:endParaRPr lang="ko-KR" altLang="en-US" sz="2000" dirty="0"/>
          </a:p>
        </p:txBody>
      </p:sp>
      <p:sp>
        <p:nvSpPr>
          <p:cNvPr id="35" name="제목 2"/>
          <p:cNvSpPr txBox="1">
            <a:spLocks/>
          </p:cNvSpPr>
          <p:nvPr/>
        </p:nvSpPr>
        <p:spPr>
          <a:xfrm>
            <a:off x="2771800" y="5949280"/>
            <a:ext cx="4176464" cy="576064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 smtClean="0"/>
              <a:t>7. </a:t>
            </a:r>
            <a:r>
              <a:rPr lang="ko-KR" altLang="en-US" sz="2000" dirty="0" smtClean="0"/>
              <a:t>지식관계 설정</a:t>
            </a:r>
            <a:r>
              <a:rPr lang="en-US" altLang="ko-KR" sz="2000" dirty="0" smtClean="0"/>
              <a:t>(cosine </a:t>
            </a:r>
            <a:r>
              <a:rPr lang="ko-KR" altLang="en-US" sz="2000" dirty="0" smtClean="0"/>
              <a:t>유사도</a:t>
            </a:r>
            <a:r>
              <a:rPr lang="en-US" altLang="ko-KR" sz="2000" dirty="0" smtClean="0"/>
              <a:t>)</a:t>
            </a:r>
            <a:endParaRPr lang="ko-KR" altLang="en-US" sz="2000" dirty="0"/>
          </a:p>
        </p:txBody>
      </p:sp>
      <p:sp>
        <p:nvSpPr>
          <p:cNvPr id="37" name="제목 2"/>
          <p:cNvSpPr txBox="1">
            <a:spLocks/>
          </p:cNvSpPr>
          <p:nvPr/>
        </p:nvSpPr>
        <p:spPr>
          <a:xfrm>
            <a:off x="2771800" y="1052736"/>
            <a:ext cx="4176464" cy="576064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 smtClean="0"/>
              <a:t>1. </a:t>
            </a:r>
            <a:r>
              <a:rPr lang="ko-KR" altLang="en-US" sz="2000" dirty="0" smtClean="0"/>
              <a:t>본문추출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외부모듈</a:t>
            </a:r>
            <a:r>
              <a:rPr lang="en-US" altLang="ko-KR" sz="2000" dirty="0" smtClean="0"/>
              <a:t>)</a:t>
            </a:r>
            <a:endParaRPr lang="ko-KR" altLang="en-US" sz="2000" dirty="0"/>
          </a:p>
        </p:txBody>
      </p:sp>
      <p:sp>
        <p:nvSpPr>
          <p:cNvPr id="43" name="제목 2"/>
          <p:cNvSpPr txBox="1">
            <a:spLocks/>
          </p:cNvSpPr>
          <p:nvPr/>
        </p:nvSpPr>
        <p:spPr>
          <a:xfrm>
            <a:off x="2771800" y="1844824"/>
            <a:ext cx="4176464" cy="576064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 smtClean="0"/>
              <a:t>2. </a:t>
            </a:r>
            <a:r>
              <a:rPr lang="ko-KR" altLang="en-US" sz="2000" dirty="0" smtClean="0"/>
              <a:t>형태소 분석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외부모듈</a:t>
            </a:r>
            <a:r>
              <a:rPr lang="en-US" altLang="ko-KR" sz="2000" dirty="0" smtClean="0"/>
              <a:t>)</a:t>
            </a:r>
            <a:endParaRPr lang="ko-KR" altLang="en-US" sz="2000" dirty="0"/>
          </a:p>
        </p:txBody>
      </p:sp>
      <p:sp>
        <p:nvSpPr>
          <p:cNvPr id="44" name="제목 2"/>
          <p:cNvSpPr txBox="1">
            <a:spLocks/>
          </p:cNvSpPr>
          <p:nvPr/>
        </p:nvSpPr>
        <p:spPr>
          <a:xfrm>
            <a:off x="2724347" y="5085184"/>
            <a:ext cx="4295925" cy="576064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 smtClean="0"/>
              <a:t>6. </a:t>
            </a:r>
            <a:r>
              <a:rPr lang="ko-KR" altLang="en-US" sz="2000" dirty="0" smtClean="0"/>
              <a:t>후보 키워드 추출</a:t>
            </a:r>
            <a:endParaRPr lang="ko-KR" altLang="en-US" sz="2000" dirty="0"/>
          </a:p>
        </p:txBody>
      </p:sp>
      <p:sp>
        <p:nvSpPr>
          <p:cNvPr id="45" name="제목 2"/>
          <p:cNvSpPr txBox="1">
            <a:spLocks/>
          </p:cNvSpPr>
          <p:nvPr/>
        </p:nvSpPr>
        <p:spPr>
          <a:xfrm>
            <a:off x="2652339" y="2636912"/>
            <a:ext cx="4367933" cy="576064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 smtClean="0"/>
              <a:t>3. Vector Space Model</a:t>
            </a:r>
            <a:r>
              <a:rPr lang="ko-KR" altLang="en-US" sz="2000" dirty="0" smtClean="0"/>
              <a:t>생성</a:t>
            </a:r>
            <a:r>
              <a:rPr lang="en-US" altLang="ko-KR" sz="2000" dirty="0" smtClean="0"/>
              <a:t>(TF-IDF)</a:t>
            </a:r>
            <a:endParaRPr lang="ko-KR" altLang="en-US" sz="2000" dirty="0"/>
          </a:p>
        </p:txBody>
      </p:sp>
      <p:cxnSp>
        <p:nvCxnSpPr>
          <p:cNvPr id="13" name="직선 화살표 연결선 12"/>
          <p:cNvCxnSpPr>
            <a:stCxn id="37" idx="2"/>
            <a:endCxn id="43" idx="0"/>
          </p:cNvCxnSpPr>
          <p:nvPr/>
        </p:nvCxnSpPr>
        <p:spPr>
          <a:xfrm>
            <a:off x="4860032" y="1628800"/>
            <a:ext cx="0" cy="216024"/>
          </a:xfrm>
          <a:prstGeom prst="straightConnector1">
            <a:avLst/>
          </a:prstGeom>
          <a:ln w="28575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/>
          <p:nvPr/>
        </p:nvCxnSpPr>
        <p:spPr>
          <a:xfrm>
            <a:off x="4860032" y="2420888"/>
            <a:ext cx="0" cy="288032"/>
          </a:xfrm>
          <a:prstGeom prst="straightConnector1">
            <a:avLst/>
          </a:prstGeom>
          <a:ln w="28575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>
            <a:off x="4860032" y="3212976"/>
            <a:ext cx="0" cy="288032"/>
          </a:xfrm>
          <a:prstGeom prst="straightConnector1">
            <a:avLst/>
          </a:prstGeom>
          <a:ln w="28575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>
            <a:off x="4860032" y="4005064"/>
            <a:ext cx="0" cy="288032"/>
          </a:xfrm>
          <a:prstGeom prst="straightConnector1">
            <a:avLst/>
          </a:prstGeom>
          <a:ln w="28575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/>
          <p:nvPr/>
        </p:nvCxnSpPr>
        <p:spPr>
          <a:xfrm>
            <a:off x="4932040" y="4797152"/>
            <a:ext cx="0" cy="288032"/>
          </a:xfrm>
          <a:prstGeom prst="straightConnector1">
            <a:avLst/>
          </a:prstGeom>
          <a:ln w="28575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/>
          <p:nvPr/>
        </p:nvCxnSpPr>
        <p:spPr>
          <a:xfrm>
            <a:off x="4932040" y="5661248"/>
            <a:ext cx="0" cy="288032"/>
          </a:xfrm>
          <a:prstGeom prst="straightConnector1">
            <a:avLst/>
          </a:prstGeom>
          <a:ln w="28575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/>
        </p:nvSpPr>
        <p:spPr>
          <a:xfrm>
            <a:off x="7452320" y="116632"/>
            <a:ext cx="1440160" cy="43204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구현됨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7452320" y="701080"/>
            <a:ext cx="1440160" cy="43204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미구현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7452320" y="1268760"/>
            <a:ext cx="1440160" cy="4320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구현중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429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2"/>
          <p:cNvSpPr txBox="1">
            <a:spLocks/>
          </p:cNvSpPr>
          <p:nvPr/>
        </p:nvSpPr>
        <p:spPr>
          <a:xfrm>
            <a:off x="-252536" y="188640"/>
            <a:ext cx="4824536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solidFill>
                  <a:schemeClr val="bg1"/>
                </a:solidFill>
              </a:rPr>
              <a:t>4</a:t>
            </a:r>
            <a:r>
              <a:rPr lang="en-US" altLang="ko-KR" sz="4000" dirty="0" smtClean="0">
                <a:solidFill>
                  <a:schemeClr val="bg1"/>
                </a:solidFill>
              </a:rPr>
              <a:t>. </a:t>
            </a:r>
            <a:r>
              <a:rPr lang="ko-KR" altLang="en-US" sz="4000" dirty="0" smtClean="0">
                <a:solidFill>
                  <a:schemeClr val="bg1"/>
                </a:solidFill>
              </a:rPr>
              <a:t>알고리즘 소개</a:t>
            </a:r>
            <a:endParaRPr lang="ko-KR" altLang="en-US" sz="40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528" y="908720"/>
            <a:ext cx="770485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u="sng" dirty="0" smtClean="0">
                <a:solidFill>
                  <a:schemeClr val="bg1"/>
                </a:solidFill>
              </a:rPr>
              <a:t>Vector Space Model</a:t>
            </a:r>
          </a:p>
          <a:p>
            <a:endParaRPr lang="en-US" altLang="ko-KR" sz="3200" dirty="0" smtClean="0">
              <a:solidFill>
                <a:schemeClr val="bg1"/>
              </a:solidFill>
            </a:endParaRPr>
          </a:p>
          <a:p>
            <a:endParaRPr lang="en-US" altLang="ko-KR" sz="1400" dirty="0" smtClean="0">
              <a:solidFill>
                <a:schemeClr val="bg1"/>
              </a:solidFill>
            </a:endParaRPr>
          </a:p>
          <a:p>
            <a:endParaRPr lang="en-US" altLang="ko-KR" dirty="0" smtClean="0">
              <a:solidFill>
                <a:schemeClr val="bg1"/>
              </a:solidFill>
            </a:endParaRPr>
          </a:p>
          <a:p>
            <a:endParaRPr lang="en-US" altLang="ko-KR" dirty="0" smtClean="0">
              <a:solidFill>
                <a:schemeClr val="bg1"/>
              </a:solidFill>
            </a:endParaRP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466499"/>
              </p:ext>
            </p:extLst>
          </p:nvPr>
        </p:nvGraphicFramePr>
        <p:xfrm>
          <a:off x="737574" y="4053227"/>
          <a:ext cx="7434826" cy="1608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1062118"/>
                <a:gridCol w="1062118"/>
                <a:gridCol w="1062118"/>
                <a:gridCol w="1062118"/>
                <a:gridCol w="1062118"/>
              </a:tblGrid>
              <a:tr h="876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smtClean="0"/>
                        <a:t>문장</a:t>
                      </a:r>
                      <a:r>
                        <a:rPr lang="ko-KR" altLang="en-US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＼키워드</a:t>
                      </a:r>
                      <a:endParaRPr lang="ko-KR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철수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신흥대학교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학생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소프트웨어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개발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전공</a:t>
                      </a:r>
                      <a:endParaRPr lang="ko-KR" altLang="en-US" dirty="0"/>
                    </a:p>
                  </a:txBody>
                  <a:tcPr/>
                </a:tc>
              </a:tr>
              <a:tr h="350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문장</a:t>
                      </a:r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</a:tr>
              <a:tr h="350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문장</a:t>
                      </a:r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5928" y="1854403"/>
            <a:ext cx="7840488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solidFill>
                  <a:schemeClr val="bg1"/>
                </a:solidFill>
              </a:rPr>
              <a:t>철수는 신흥대학교 학생이다</a:t>
            </a:r>
            <a:r>
              <a:rPr lang="en-US" altLang="ko-KR" sz="2400" dirty="0" smtClean="0">
                <a:solidFill>
                  <a:schemeClr val="bg1"/>
                </a:solidFill>
              </a:rPr>
              <a:t>. </a:t>
            </a:r>
            <a:r>
              <a:rPr lang="ko-KR" altLang="en-US" sz="2400" dirty="0" smtClean="0">
                <a:solidFill>
                  <a:schemeClr val="bg1"/>
                </a:solidFill>
              </a:rPr>
              <a:t>철수는 소프트웨어개발 전공이다</a:t>
            </a:r>
            <a:r>
              <a:rPr lang="en-US" altLang="ko-KR" sz="2400" dirty="0" smtClean="0">
                <a:solidFill>
                  <a:schemeClr val="bg1"/>
                </a:solidFill>
              </a:rPr>
              <a:t>.</a:t>
            </a:r>
            <a:endParaRPr lang="en-US" altLang="ko-KR" sz="2400" dirty="0">
              <a:solidFill>
                <a:schemeClr val="bg1"/>
              </a:solidFill>
            </a:endParaRPr>
          </a:p>
          <a:p>
            <a:endParaRPr lang="en-US" altLang="ko-KR" sz="1100" dirty="0" smtClean="0">
              <a:solidFill>
                <a:schemeClr val="bg1"/>
              </a:solidFill>
            </a:endParaRPr>
          </a:p>
          <a:p>
            <a:endParaRPr lang="en-US" altLang="ko-KR" sz="1400" dirty="0" smtClean="0">
              <a:solidFill>
                <a:schemeClr val="bg1"/>
              </a:solidFill>
            </a:endParaRPr>
          </a:p>
          <a:p>
            <a:endParaRPr lang="en-US" altLang="ko-KR" sz="1400" dirty="0">
              <a:solidFill>
                <a:schemeClr val="bg1"/>
              </a:solidFill>
            </a:endParaRPr>
          </a:p>
          <a:p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7" name="아래쪽 화살표 6"/>
          <p:cNvSpPr/>
          <p:nvPr/>
        </p:nvSpPr>
        <p:spPr>
          <a:xfrm>
            <a:off x="3563888" y="2718355"/>
            <a:ext cx="1368152" cy="998677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982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2"/>
          <p:cNvSpPr txBox="1">
            <a:spLocks/>
          </p:cNvSpPr>
          <p:nvPr/>
        </p:nvSpPr>
        <p:spPr>
          <a:xfrm>
            <a:off x="-252536" y="188640"/>
            <a:ext cx="4824536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solidFill>
                  <a:schemeClr val="bg1"/>
                </a:solidFill>
              </a:rPr>
              <a:t>4</a:t>
            </a:r>
            <a:r>
              <a:rPr lang="en-US" altLang="ko-KR" sz="4000" dirty="0" smtClean="0">
                <a:solidFill>
                  <a:schemeClr val="bg1"/>
                </a:solidFill>
              </a:rPr>
              <a:t>. </a:t>
            </a:r>
            <a:r>
              <a:rPr lang="ko-KR" altLang="en-US" sz="4000" dirty="0" smtClean="0">
                <a:solidFill>
                  <a:schemeClr val="bg1"/>
                </a:solidFill>
              </a:rPr>
              <a:t>알고리즘 소개</a:t>
            </a:r>
            <a:endParaRPr lang="ko-KR" altLang="en-US" sz="40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528" y="908720"/>
            <a:ext cx="7704856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u="sng" dirty="0">
                <a:solidFill>
                  <a:schemeClr val="bg1"/>
                </a:solidFill>
              </a:rPr>
              <a:t>TF-IDF</a:t>
            </a:r>
            <a:endParaRPr lang="ko-KR" altLang="en-US" sz="3200" u="sng" dirty="0"/>
          </a:p>
          <a:p>
            <a:endParaRPr lang="en-US" altLang="ko-KR" sz="3200" dirty="0" smtClean="0">
              <a:solidFill>
                <a:schemeClr val="bg1"/>
              </a:solidFill>
            </a:endParaRPr>
          </a:p>
          <a:p>
            <a:endParaRPr lang="en-US" altLang="ko-KR" sz="3200" dirty="0" smtClean="0">
              <a:solidFill>
                <a:schemeClr val="bg1"/>
              </a:solidFill>
            </a:endParaRPr>
          </a:p>
          <a:p>
            <a:endParaRPr lang="en-US" altLang="ko-KR" sz="1400" dirty="0" smtClean="0">
              <a:solidFill>
                <a:schemeClr val="bg1"/>
              </a:solidFill>
            </a:endParaRPr>
          </a:p>
          <a:p>
            <a:endParaRPr lang="en-US" altLang="ko-KR" dirty="0" smtClean="0">
              <a:solidFill>
                <a:schemeClr val="bg1"/>
              </a:solidFill>
            </a:endParaRPr>
          </a:p>
          <a:p>
            <a:endParaRPr lang="en-US" altLang="ko-KR" dirty="0" smtClean="0">
              <a:solidFill>
                <a:schemeClr val="bg1"/>
              </a:solidFill>
            </a:endParaRP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913409"/>
              </p:ext>
            </p:extLst>
          </p:nvPr>
        </p:nvGraphicFramePr>
        <p:xfrm>
          <a:off x="737574" y="2636912"/>
          <a:ext cx="7434826" cy="1973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1062118"/>
                <a:gridCol w="1062118"/>
                <a:gridCol w="1062118"/>
                <a:gridCol w="1062118"/>
                <a:gridCol w="1062118"/>
              </a:tblGrid>
              <a:tr h="876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smtClean="0"/>
                        <a:t>문서</a:t>
                      </a:r>
                      <a:r>
                        <a:rPr lang="ko-KR" altLang="en-US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＼키워드</a:t>
                      </a:r>
                      <a:endParaRPr lang="ko-KR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철수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신흥대학교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학생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소프트웨어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개발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전공</a:t>
                      </a:r>
                      <a:endParaRPr lang="ko-KR" altLang="en-US" dirty="0"/>
                    </a:p>
                  </a:txBody>
                  <a:tcPr/>
                </a:tc>
              </a:tr>
              <a:tr h="350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문서</a:t>
                      </a:r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</a:tr>
              <a:tr h="350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문서</a:t>
                      </a:r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</a:tr>
              <a:tr h="350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문서</a:t>
                      </a:r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03920" y="1844824"/>
            <a:ext cx="7840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</a:rPr>
              <a:t>일반적으로 </a:t>
            </a:r>
            <a:r>
              <a:rPr lang="en-US" altLang="ko-KR" sz="2000" dirty="0" smtClean="0">
                <a:solidFill>
                  <a:schemeClr val="bg1"/>
                </a:solidFill>
              </a:rPr>
              <a:t>VSM</a:t>
            </a:r>
            <a:r>
              <a:rPr lang="ko-KR" altLang="en-US" sz="2000" dirty="0" smtClean="0">
                <a:solidFill>
                  <a:schemeClr val="bg1"/>
                </a:solidFill>
              </a:rPr>
              <a:t>에서의 행렬요소는 </a:t>
            </a:r>
            <a:r>
              <a:rPr lang="ko-KR" altLang="en-US" sz="2000" dirty="0" err="1" smtClean="0">
                <a:solidFill>
                  <a:schemeClr val="bg1"/>
                </a:solidFill>
              </a:rPr>
              <a:t>불리언</a:t>
            </a:r>
            <a:r>
              <a:rPr lang="en-US" altLang="ko-KR" sz="2000" dirty="0" smtClean="0">
                <a:solidFill>
                  <a:schemeClr val="bg1"/>
                </a:solidFill>
              </a:rPr>
              <a:t>, </a:t>
            </a:r>
            <a:r>
              <a:rPr lang="ko-KR" altLang="en-US" sz="2000" dirty="0" smtClean="0">
                <a:solidFill>
                  <a:schemeClr val="bg1"/>
                </a:solidFill>
              </a:rPr>
              <a:t>단어빈도</a:t>
            </a:r>
            <a:r>
              <a:rPr lang="en-US" altLang="ko-KR" sz="2000" dirty="0">
                <a:solidFill>
                  <a:schemeClr val="bg1"/>
                </a:solidFill>
              </a:rPr>
              <a:t> </a:t>
            </a:r>
            <a:r>
              <a:rPr lang="ko-KR" altLang="en-US" sz="2000" dirty="0" smtClean="0">
                <a:solidFill>
                  <a:schemeClr val="bg1"/>
                </a:solidFill>
              </a:rPr>
              <a:t>또는 </a:t>
            </a:r>
            <a:r>
              <a:rPr lang="en-US" altLang="ko-KR" sz="2000" dirty="0" smtClean="0">
                <a:solidFill>
                  <a:schemeClr val="bg1"/>
                </a:solidFill>
              </a:rPr>
              <a:t>TF-IDF</a:t>
            </a:r>
            <a:endParaRPr lang="en-US" altLang="ko-KR" sz="1600" dirty="0" smtClean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3920" y="4725144"/>
            <a:ext cx="784048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</a:rPr>
              <a:t>문서</a:t>
            </a:r>
            <a:r>
              <a:rPr lang="en-US" altLang="ko-KR" sz="2000" dirty="0" smtClean="0">
                <a:solidFill>
                  <a:schemeClr val="bg1"/>
                </a:solidFill>
              </a:rPr>
              <a:t>1</a:t>
            </a:r>
            <a:r>
              <a:rPr lang="ko-KR" altLang="en-US" sz="2000" dirty="0" smtClean="0">
                <a:solidFill>
                  <a:schemeClr val="bg1"/>
                </a:solidFill>
              </a:rPr>
              <a:t>에서의 키워드 </a:t>
            </a:r>
            <a:r>
              <a:rPr lang="en-US" altLang="ko-KR" sz="2000" dirty="0" smtClean="0">
                <a:solidFill>
                  <a:schemeClr val="bg1"/>
                </a:solidFill>
              </a:rPr>
              <a:t>“</a:t>
            </a:r>
            <a:r>
              <a:rPr lang="ko-KR" altLang="en-US" sz="2000" dirty="0" smtClean="0">
                <a:solidFill>
                  <a:schemeClr val="bg1"/>
                </a:solidFill>
              </a:rPr>
              <a:t>철수</a:t>
            </a:r>
            <a:r>
              <a:rPr lang="en-US" altLang="ko-KR" sz="2000" dirty="0" smtClean="0">
                <a:solidFill>
                  <a:schemeClr val="bg1"/>
                </a:solidFill>
              </a:rPr>
              <a:t>”</a:t>
            </a:r>
            <a:r>
              <a:rPr lang="ko-KR" altLang="en-US" sz="2000" dirty="0" smtClean="0">
                <a:solidFill>
                  <a:schemeClr val="bg1"/>
                </a:solidFill>
              </a:rPr>
              <a:t>에 대한 </a:t>
            </a:r>
            <a:r>
              <a:rPr lang="en-US" altLang="ko-KR" sz="2000" dirty="0" err="1" smtClean="0">
                <a:solidFill>
                  <a:schemeClr val="bg1"/>
                </a:solidFill>
              </a:rPr>
              <a:t>tf-idf</a:t>
            </a:r>
            <a:r>
              <a:rPr lang="ko-KR" altLang="en-US" sz="2000" dirty="0" smtClean="0">
                <a:solidFill>
                  <a:schemeClr val="bg1"/>
                </a:solidFill>
              </a:rPr>
              <a:t>값은</a:t>
            </a:r>
            <a:endParaRPr lang="en-US" altLang="ko-KR" sz="2000" dirty="0">
              <a:solidFill>
                <a:schemeClr val="bg1"/>
              </a:solidFill>
            </a:endParaRPr>
          </a:p>
          <a:p>
            <a:endParaRPr lang="en-US" altLang="ko-KR" sz="2000" dirty="0" smtClean="0">
              <a:solidFill>
                <a:schemeClr val="bg1"/>
              </a:solidFill>
            </a:endParaRPr>
          </a:p>
          <a:p>
            <a:r>
              <a:rPr lang="en-US" altLang="ko-KR" sz="2000" dirty="0" smtClean="0">
                <a:solidFill>
                  <a:schemeClr val="bg1"/>
                </a:solidFill>
              </a:rPr>
              <a:t>TF(2) * IDF(3/2) = 2 * 1.5</a:t>
            </a:r>
          </a:p>
          <a:p>
            <a:r>
              <a:rPr lang="en-US" altLang="ko-KR" sz="2000" dirty="0" smtClean="0">
                <a:solidFill>
                  <a:schemeClr val="bg1"/>
                </a:solidFill>
              </a:rPr>
              <a:t>TF-IDF(3)</a:t>
            </a: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endParaRPr lang="en-US" altLang="ko-KR" sz="16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36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2"/>
          <p:cNvSpPr txBox="1">
            <a:spLocks/>
          </p:cNvSpPr>
          <p:nvPr/>
        </p:nvSpPr>
        <p:spPr>
          <a:xfrm>
            <a:off x="-252536" y="188640"/>
            <a:ext cx="4824536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solidFill>
                  <a:schemeClr val="bg1"/>
                </a:solidFill>
              </a:rPr>
              <a:t>4</a:t>
            </a:r>
            <a:r>
              <a:rPr lang="en-US" altLang="ko-KR" sz="4000" dirty="0" smtClean="0">
                <a:solidFill>
                  <a:schemeClr val="bg1"/>
                </a:solidFill>
              </a:rPr>
              <a:t>. </a:t>
            </a:r>
            <a:r>
              <a:rPr lang="ko-KR" altLang="en-US" sz="4000" dirty="0" smtClean="0">
                <a:solidFill>
                  <a:schemeClr val="bg1"/>
                </a:solidFill>
              </a:rPr>
              <a:t>알고리즘 소개</a:t>
            </a:r>
            <a:endParaRPr lang="ko-KR" altLang="en-US" sz="40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7544" y="812899"/>
            <a:ext cx="7704856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u="sng" dirty="0" smtClean="0">
                <a:solidFill>
                  <a:schemeClr val="bg1"/>
                </a:solidFill>
              </a:rPr>
              <a:t>PCA(</a:t>
            </a:r>
            <a:r>
              <a:rPr lang="ko-KR" altLang="en-US" sz="3200" u="sng" dirty="0" smtClean="0">
                <a:solidFill>
                  <a:schemeClr val="bg1"/>
                </a:solidFill>
              </a:rPr>
              <a:t>주성분분석</a:t>
            </a:r>
            <a:r>
              <a:rPr lang="en-US" altLang="ko-KR" sz="3200" u="sng" dirty="0" smtClean="0">
                <a:solidFill>
                  <a:schemeClr val="bg1"/>
                </a:solidFill>
              </a:rPr>
              <a:t>)</a:t>
            </a:r>
            <a:endParaRPr lang="ko-KR" altLang="en-US" sz="3200" u="sng" dirty="0"/>
          </a:p>
          <a:p>
            <a:endParaRPr lang="en-US" altLang="ko-KR" sz="3200" dirty="0" smtClean="0">
              <a:solidFill>
                <a:schemeClr val="bg1"/>
              </a:solidFill>
            </a:endParaRPr>
          </a:p>
          <a:p>
            <a:endParaRPr lang="en-US" altLang="ko-KR" sz="3200" dirty="0" smtClean="0">
              <a:solidFill>
                <a:schemeClr val="bg1"/>
              </a:solidFill>
            </a:endParaRPr>
          </a:p>
          <a:p>
            <a:endParaRPr lang="en-US" altLang="ko-KR" sz="1400" dirty="0" smtClean="0">
              <a:solidFill>
                <a:schemeClr val="bg1"/>
              </a:solidFill>
            </a:endParaRPr>
          </a:p>
          <a:p>
            <a:endParaRPr lang="en-US" altLang="ko-KR" dirty="0" smtClean="0">
              <a:solidFill>
                <a:schemeClr val="bg1"/>
              </a:solidFill>
            </a:endParaRPr>
          </a:p>
          <a:p>
            <a:endParaRPr lang="en-US" altLang="ko-KR" dirty="0" smtClean="0">
              <a:solidFill>
                <a:schemeClr val="bg1"/>
              </a:solidFill>
            </a:endParaRP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996793"/>
              </p:ext>
            </p:extLst>
          </p:nvPr>
        </p:nvGraphicFramePr>
        <p:xfrm>
          <a:off x="1752087" y="1988840"/>
          <a:ext cx="5310590" cy="1608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1062118"/>
                <a:gridCol w="1062118"/>
                <a:gridCol w="1062118"/>
              </a:tblGrid>
              <a:tr h="876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smtClean="0"/>
                        <a:t>문장</a:t>
                      </a:r>
                      <a:r>
                        <a:rPr lang="ko-KR" altLang="en-US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＼키워드</a:t>
                      </a:r>
                      <a:endParaRPr lang="ko-KR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철수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신흥대학교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학생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소프트웨어</a:t>
                      </a:r>
                      <a:endParaRPr lang="ko-KR" altLang="en-US" dirty="0"/>
                    </a:p>
                  </a:txBody>
                  <a:tcPr/>
                </a:tc>
              </a:tr>
              <a:tr h="350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문장</a:t>
                      </a:r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</a:tr>
              <a:tr h="350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문장</a:t>
                      </a:r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862506"/>
              </p:ext>
            </p:extLst>
          </p:nvPr>
        </p:nvGraphicFramePr>
        <p:xfrm>
          <a:off x="1547665" y="4293096"/>
          <a:ext cx="5904655" cy="2260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136"/>
                <a:gridCol w="920726"/>
                <a:gridCol w="1180931"/>
                <a:gridCol w="1180931"/>
                <a:gridCol w="1180931"/>
              </a:tblGrid>
              <a:tr h="4320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키워드＼주성분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aseline="0" dirty="0" smtClean="0"/>
                        <a:t>PRIM1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aseline="0" dirty="0" smtClean="0"/>
                        <a:t>PRIM2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aseline="0" dirty="0" smtClean="0"/>
                        <a:t>PRIM3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aseline="0" dirty="0" smtClean="0"/>
                        <a:t>PRIM4</a:t>
                      </a:r>
                      <a:endParaRPr lang="ko-KR" altLang="en-US" dirty="0"/>
                    </a:p>
                  </a:txBody>
                  <a:tcPr/>
                </a:tc>
              </a:tr>
              <a:tr h="350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철수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0.7123</a:t>
                      </a:r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0.62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0.1231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0.344</a:t>
                      </a:r>
                      <a:endParaRPr lang="ko-KR" altLang="en-US" dirty="0"/>
                    </a:p>
                  </a:txBody>
                  <a:tcPr/>
                </a:tc>
              </a:tr>
              <a:tr h="350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신흥대학교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0.123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0.123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0.0011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0.123</a:t>
                      </a:r>
                      <a:endParaRPr lang="ko-KR" altLang="en-US" dirty="0"/>
                    </a:p>
                  </a:txBody>
                  <a:tcPr/>
                </a:tc>
              </a:tr>
              <a:tr h="350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학생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0.2142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0.545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0.8231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0.3633</a:t>
                      </a:r>
                      <a:endParaRPr lang="ko-KR" altLang="en-US" dirty="0"/>
                    </a:p>
                  </a:txBody>
                  <a:tcPr/>
                </a:tc>
              </a:tr>
              <a:tr h="350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소프트웨어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0.96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0.2354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0.3111</a:t>
                      </a:r>
                      <a:endParaRPr lang="ko-KR" altLang="en-US" dirty="0"/>
                    </a:p>
                  </a:txBody>
                  <a:tcPr/>
                </a:tc>
              </a:tr>
              <a:tr h="350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고유값</a:t>
                      </a:r>
                      <a:endParaRPr lang="ko-KR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3.111</a:t>
                      </a:r>
                      <a:endParaRPr lang="ko-KR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3.09</a:t>
                      </a:r>
                      <a:endParaRPr lang="ko-KR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2.1213</a:t>
                      </a:r>
                      <a:endParaRPr lang="ko-KR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1.657</a:t>
                      </a:r>
                      <a:endParaRPr lang="ko-KR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467544" y="1484784"/>
            <a:ext cx="84249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</a:rPr>
              <a:t>인공변수를 이용하여 대상 데이터의 차원</a:t>
            </a:r>
            <a:r>
              <a:rPr lang="en-US" altLang="ko-KR" dirty="0" smtClean="0">
                <a:solidFill>
                  <a:schemeClr val="bg1"/>
                </a:solidFill>
              </a:rPr>
              <a:t>(</a:t>
            </a:r>
            <a:r>
              <a:rPr lang="ko-KR" altLang="en-US" dirty="0" smtClean="0">
                <a:solidFill>
                  <a:schemeClr val="bg1"/>
                </a:solidFill>
              </a:rPr>
              <a:t>키워드</a:t>
            </a:r>
            <a:r>
              <a:rPr lang="en-US" altLang="ko-KR" dirty="0" smtClean="0">
                <a:solidFill>
                  <a:schemeClr val="bg1"/>
                </a:solidFill>
              </a:rPr>
              <a:t>)</a:t>
            </a:r>
            <a:r>
              <a:rPr lang="ko-KR" altLang="en-US" dirty="0" smtClean="0">
                <a:solidFill>
                  <a:schemeClr val="bg1"/>
                </a:solidFill>
              </a:rPr>
              <a:t>을 축소하는 통계적 기법</a:t>
            </a:r>
            <a:r>
              <a:rPr lang="en-US" altLang="ko-KR" dirty="0" smtClean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아래쪽 화살표 7"/>
          <p:cNvSpPr/>
          <p:nvPr/>
        </p:nvSpPr>
        <p:spPr>
          <a:xfrm>
            <a:off x="3882725" y="3645024"/>
            <a:ext cx="1049315" cy="576064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15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2"/>
          <p:cNvSpPr txBox="1">
            <a:spLocks/>
          </p:cNvSpPr>
          <p:nvPr/>
        </p:nvSpPr>
        <p:spPr>
          <a:xfrm>
            <a:off x="-252536" y="188640"/>
            <a:ext cx="4824536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solidFill>
                  <a:schemeClr val="bg1"/>
                </a:solidFill>
              </a:rPr>
              <a:t>4</a:t>
            </a:r>
            <a:r>
              <a:rPr lang="en-US" altLang="ko-KR" sz="4000" dirty="0" smtClean="0">
                <a:solidFill>
                  <a:schemeClr val="bg1"/>
                </a:solidFill>
              </a:rPr>
              <a:t>. </a:t>
            </a:r>
            <a:r>
              <a:rPr lang="ko-KR" altLang="en-US" sz="4000" dirty="0" smtClean="0">
                <a:solidFill>
                  <a:schemeClr val="bg1"/>
                </a:solidFill>
              </a:rPr>
              <a:t>알고리즘 소개</a:t>
            </a:r>
            <a:endParaRPr lang="ko-KR" altLang="en-US" sz="40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528" y="908720"/>
            <a:ext cx="770485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u="sng" dirty="0" smtClean="0">
                <a:solidFill>
                  <a:schemeClr val="bg1"/>
                </a:solidFill>
              </a:rPr>
              <a:t>Cosine  </a:t>
            </a:r>
            <a:r>
              <a:rPr lang="ko-KR" altLang="en-US" sz="3200" u="sng" dirty="0" smtClean="0">
                <a:solidFill>
                  <a:schemeClr val="bg1"/>
                </a:solidFill>
              </a:rPr>
              <a:t>유사도</a:t>
            </a:r>
            <a:endParaRPr lang="en-US" altLang="ko-KR" sz="3200" u="sng" dirty="0" smtClean="0">
              <a:solidFill>
                <a:schemeClr val="bg1"/>
              </a:solidFill>
            </a:endParaRPr>
          </a:p>
          <a:p>
            <a:endParaRPr lang="ko-KR" altLang="en-US" sz="3200" u="sng" dirty="0">
              <a:solidFill>
                <a:schemeClr val="bg1"/>
              </a:solidFill>
            </a:endParaRPr>
          </a:p>
          <a:p>
            <a:endParaRPr lang="en-US" altLang="ko-KR" sz="3200" dirty="0" smtClean="0">
              <a:solidFill>
                <a:schemeClr val="bg1"/>
              </a:solidFill>
            </a:endParaRPr>
          </a:p>
          <a:p>
            <a:endParaRPr lang="en-US" altLang="ko-KR" sz="3200" dirty="0" smtClean="0">
              <a:solidFill>
                <a:schemeClr val="bg1"/>
              </a:solidFill>
            </a:endParaRPr>
          </a:p>
          <a:p>
            <a:endParaRPr lang="en-US" altLang="ko-KR" sz="1400" dirty="0" smtClean="0">
              <a:solidFill>
                <a:schemeClr val="bg1"/>
              </a:solidFill>
            </a:endParaRPr>
          </a:p>
          <a:p>
            <a:endParaRPr lang="en-US" altLang="ko-KR" dirty="0" smtClean="0">
              <a:solidFill>
                <a:schemeClr val="bg1"/>
              </a:solidFill>
            </a:endParaRPr>
          </a:p>
          <a:p>
            <a:endParaRPr lang="en-US" altLang="ko-KR" dirty="0" smtClean="0">
              <a:solidFill>
                <a:schemeClr val="bg1"/>
              </a:solidFill>
            </a:endParaRP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755983"/>
              </p:ext>
            </p:extLst>
          </p:nvPr>
        </p:nvGraphicFramePr>
        <p:xfrm>
          <a:off x="107504" y="2204864"/>
          <a:ext cx="8959809" cy="1819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078"/>
                <a:gridCol w="537355"/>
                <a:gridCol w="689216"/>
                <a:gridCol w="689216"/>
                <a:gridCol w="689216"/>
                <a:gridCol w="689216"/>
                <a:gridCol w="689216"/>
                <a:gridCol w="689216"/>
                <a:gridCol w="689216"/>
                <a:gridCol w="689216"/>
                <a:gridCol w="689216"/>
                <a:gridCol w="689216"/>
                <a:gridCol w="689216"/>
              </a:tblGrid>
              <a:tr h="57606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smtClean="0"/>
                        <a:t>문서</a:t>
                      </a:r>
                      <a:r>
                        <a:rPr lang="ko-KR" altLang="en-US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＼키워드</a:t>
                      </a:r>
                      <a:endParaRPr lang="ko-KR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K1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K2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K3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K4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K5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K6</a:t>
                      </a:r>
                      <a:endParaRPr lang="ko-KR" altLang="en-US" dirty="0" smtClean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K7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K8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K9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K10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K11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K12</a:t>
                      </a:r>
                      <a:endParaRPr lang="ko-KR" altLang="en-US" dirty="0" smtClean="0"/>
                    </a:p>
                  </a:txBody>
                  <a:tcPr/>
                </a:tc>
              </a:tr>
              <a:tr h="5896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문서</a:t>
                      </a:r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</a:tr>
              <a:tr h="5896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문서</a:t>
                      </a:r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67544" y="4376631"/>
            <a:ext cx="784048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</a:rPr>
              <a:t>문서</a:t>
            </a:r>
            <a:r>
              <a:rPr lang="en-US" altLang="ko-KR" sz="2000" dirty="0" smtClean="0">
                <a:solidFill>
                  <a:schemeClr val="bg1"/>
                </a:solidFill>
              </a:rPr>
              <a:t>1</a:t>
            </a:r>
            <a:r>
              <a:rPr lang="ko-KR" altLang="en-US" sz="2000" dirty="0" smtClean="0">
                <a:solidFill>
                  <a:schemeClr val="bg1"/>
                </a:solidFill>
              </a:rPr>
              <a:t>과 문서</a:t>
            </a:r>
            <a:r>
              <a:rPr lang="en-US" altLang="ko-KR" sz="2000" dirty="0" smtClean="0">
                <a:solidFill>
                  <a:schemeClr val="bg1"/>
                </a:solidFill>
              </a:rPr>
              <a:t>2</a:t>
            </a:r>
            <a:r>
              <a:rPr lang="ko-KR" altLang="en-US" sz="2000" dirty="0" smtClean="0">
                <a:solidFill>
                  <a:schemeClr val="bg1"/>
                </a:solidFill>
              </a:rPr>
              <a:t>의 유사도 값은</a:t>
            </a:r>
            <a:endParaRPr lang="en-US" altLang="ko-KR" sz="2000" dirty="0" smtClean="0">
              <a:solidFill>
                <a:schemeClr val="bg1"/>
              </a:solidFill>
            </a:endParaRPr>
          </a:p>
          <a:p>
            <a:endParaRPr lang="en-US" altLang="ko-KR" sz="2000" dirty="0" smtClean="0">
              <a:solidFill>
                <a:schemeClr val="bg1"/>
              </a:solidFill>
            </a:endParaRP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endParaRPr lang="en-US" altLang="ko-KR" sz="2000" dirty="0" smtClean="0">
              <a:solidFill>
                <a:schemeClr val="bg1"/>
              </a:solidFill>
            </a:endParaRPr>
          </a:p>
          <a:p>
            <a:endParaRPr lang="en-US" altLang="ko-KR" sz="2000" dirty="0" smtClean="0">
              <a:solidFill>
                <a:schemeClr val="bg1"/>
              </a:solidFill>
            </a:endParaRPr>
          </a:p>
          <a:p>
            <a:r>
              <a:rPr lang="en-US" altLang="ko-KR" sz="2000" dirty="0" err="1" smtClean="0">
                <a:solidFill>
                  <a:schemeClr val="bg1"/>
                </a:solidFill>
              </a:rPr>
              <a:t>cos</a:t>
            </a:r>
            <a:r>
              <a:rPr lang="en-US" altLang="ko-KR" sz="2000" dirty="0" smtClean="0">
                <a:solidFill>
                  <a:schemeClr val="bg1"/>
                </a:solidFill>
              </a:rPr>
              <a:t>(d2, d1) = (36+18+3+2+4) / (7.5*11.9) = 0.71</a:t>
            </a:r>
            <a:r>
              <a:rPr lang="en-US" altLang="ko-KR" sz="2000" dirty="0" smtClean="0"/>
              <a:t>= &lt;9 6 3 2 2 2 0 2 0 0 0 0 &gt;</a:t>
            </a:r>
            <a:endParaRPr lang="en-US" altLang="ko-KR" sz="2000" dirty="0" smtClean="0">
              <a:solidFill>
                <a:schemeClr val="bg1"/>
              </a:solidFill>
            </a:endParaRPr>
          </a:p>
          <a:p>
            <a:endParaRPr lang="en-US" altLang="ko-KR" sz="1600" dirty="0" smtClean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3920" y="1556792"/>
            <a:ext cx="78404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</a:rPr>
              <a:t>벡터 </a:t>
            </a:r>
            <a:r>
              <a:rPr lang="en-US" altLang="ko-KR" sz="2000" dirty="0">
                <a:solidFill>
                  <a:schemeClr val="bg1"/>
                </a:solidFill>
              </a:rPr>
              <a:t>/</a:t>
            </a:r>
            <a:r>
              <a:rPr lang="en-US" altLang="ko-KR" sz="2000" dirty="0" smtClean="0">
                <a:solidFill>
                  <a:schemeClr val="bg1"/>
                </a:solidFill>
              </a:rPr>
              <a:t> </a:t>
            </a:r>
            <a:r>
              <a:rPr lang="ko-KR" altLang="en-US" sz="2000" dirty="0" smtClean="0">
                <a:solidFill>
                  <a:schemeClr val="bg1"/>
                </a:solidFill>
              </a:rPr>
              <a:t>내적에 단위 벡터들의 곱</a:t>
            </a:r>
            <a:endParaRPr lang="en-US" altLang="ko-KR" sz="2000" dirty="0" smtClean="0">
              <a:solidFill>
                <a:schemeClr val="bg1"/>
              </a:solidFill>
            </a:endParaRPr>
          </a:p>
          <a:p>
            <a:r>
              <a:rPr lang="en-US" altLang="ko-KR" sz="2000" dirty="0"/>
              <a:t>d1 = &lt;9 6 3 2 2 2 0 2 0 0 0 0 &gt;</a:t>
            </a:r>
            <a:endParaRPr lang="en-US" altLang="ko-KR" sz="2000" dirty="0">
              <a:solidFill>
                <a:schemeClr val="bg1"/>
              </a:solidFill>
            </a:endParaRPr>
          </a:p>
          <a:p>
            <a:endParaRPr lang="en-US" altLang="ko-KR" sz="1600" dirty="0" smtClean="0">
              <a:solidFill>
                <a:schemeClr val="bg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23528" y="4927159"/>
            <a:ext cx="88924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u="sng" dirty="0">
                <a:solidFill>
                  <a:schemeClr val="bg1"/>
                </a:solidFill>
              </a:rPr>
              <a:t>두 벡터에서 동일한 단어들끼리의 곱의 </a:t>
            </a:r>
            <a:r>
              <a:rPr lang="ko-KR" altLang="en-US" b="1" u="sng" dirty="0" smtClean="0">
                <a:solidFill>
                  <a:schemeClr val="bg1"/>
                </a:solidFill>
              </a:rPr>
              <a:t>합</a:t>
            </a:r>
            <a:endParaRPr lang="en-US" altLang="ko-KR" b="1" u="sng" dirty="0" smtClean="0">
              <a:solidFill>
                <a:schemeClr val="bg1"/>
              </a:solidFill>
            </a:endParaRPr>
          </a:p>
          <a:p>
            <a:r>
              <a:rPr lang="en-US" altLang="ko-KR" b="1" u="sng" dirty="0" smtClean="0">
                <a:solidFill>
                  <a:schemeClr val="bg1"/>
                </a:solidFill>
              </a:rPr>
              <a:t>/ </a:t>
            </a:r>
            <a:r>
              <a:rPr lang="ko-KR" altLang="en-US" b="1" u="sng" dirty="0">
                <a:solidFill>
                  <a:schemeClr val="bg1"/>
                </a:solidFill>
              </a:rPr>
              <a:t>문서 </a:t>
            </a:r>
            <a:r>
              <a:rPr lang="en-US" altLang="ko-KR" b="1" u="sng" dirty="0">
                <a:solidFill>
                  <a:schemeClr val="bg1"/>
                </a:solidFill>
              </a:rPr>
              <a:t>1 </a:t>
            </a:r>
            <a:r>
              <a:rPr lang="ko-KR" altLang="en-US" b="1" u="sng" dirty="0">
                <a:solidFill>
                  <a:schemeClr val="bg1"/>
                </a:solidFill>
              </a:rPr>
              <a:t>단어의 제곱의 루트 * 문서 </a:t>
            </a:r>
            <a:r>
              <a:rPr lang="en-US" altLang="ko-KR" b="1" u="sng" dirty="0">
                <a:solidFill>
                  <a:schemeClr val="bg1"/>
                </a:solidFill>
              </a:rPr>
              <a:t>2 </a:t>
            </a:r>
            <a:r>
              <a:rPr lang="ko-KR" altLang="en-US" b="1" u="sng" dirty="0">
                <a:solidFill>
                  <a:schemeClr val="bg1"/>
                </a:solidFill>
              </a:rPr>
              <a:t>단어의 제곱의 루트 </a:t>
            </a:r>
            <a:endParaRPr lang="ko-KR" altLang="en-US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91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2"/>
          <p:cNvSpPr txBox="1">
            <a:spLocks/>
          </p:cNvSpPr>
          <p:nvPr/>
        </p:nvSpPr>
        <p:spPr>
          <a:xfrm>
            <a:off x="-252536" y="188640"/>
            <a:ext cx="3384376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 smtClean="0">
                <a:solidFill>
                  <a:schemeClr val="bg1"/>
                </a:solidFill>
              </a:rPr>
              <a:t>5. </a:t>
            </a:r>
            <a:r>
              <a:rPr lang="ko-KR" altLang="en-US" sz="4000" dirty="0" smtClean="0">
                <a:solidFill>
                  <a:schemeClr val="bg1"/>
                </a:solidFill>
              </a:rPr>
              <a:t>문제점</a:t>
            </a:r>
            <a:endParaRPr lang="ko-KR" altLang="en-US" sz="40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7544" y="1247269"/>
            <a:ext cx="770485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ko-KR" altLang="en-US" sz="3200" dirty="0" smtClean="0">
                <a:solidFill>
                  <a:schemeClr val="bg1"/>
                </a:solidFill>
              </a:rPr>
              <a:t>서버간의 데이터 전송 문제</a:t>
            </a:r>
            <a:endParaRPr lang="en-US" altLang="ko-KR" sz="3200" dirty="0" smtClean="0">
              <a:solidFill>
                <a:schemeClr val="bg1"/>
              </a:solidFill>
            </a:endParaRPr>
          </a:p>
          <a:p>
            <a:pPr lvl="1"/>
            <a:endParaRPr lang="en-US" altLang="ko-KR" sz="3200" dirty="0" smtClean="0">
              <a:solidFill>
                <a:schemeClr val="bg1"/>
              </a:solidFill>
            </a:endParaRPr>
          </a:p>
          <a:p>
            <a:pPr lvl="1"/>
            <a:r>
              <a:rPr lang="en-US" altLang="ko-KR" sz="3200" dirty="0" smtClean="0">
                <a:solidFill>
                  <a:schemeClr val="bg1"/>
                </a:solidFill>
              </a:rPr>
              <a:t> </a:t>
            </a:r>
            <a:r>
              <a:rPr lang="ko-KR" altLang="en-US" sz="3200" dirty="0" smtClean="0">
                <a:solidFill>
                  <a:schemeClr val="bg1"/>
                </a:solidFill>
              </a:rPr>
              <a:t> </a:t>
            </a:r>
            <a:r>
              <a:rPr lang="en-US" altLang="ko-KR" sz="2000" dirty="0" smtClean="0">
                <a:solidFill>
                  <a:schemeClr val="bg1"/>
                </a:solidFill>
              </a:rPr>
              <a:t>crawler</a:t>
            </a:r>
            <a:r>
              <a:rPr lang="ko-KR" altLang="en-US" sz="2000" dirty="0" smtClean="0">
                <a:solidFill>
                  <a:schemeClr val="bg1"/>
                </a:solidFill>
              </a:rPr>
              <a:t>와 서버간의 통신에는 비동기적 방식으로</a:t>
            </a:r>
            <a:r>
              <a:rPr lang="en-US" altLang="ko-KR" sz="2000" dirty="0" smtClean="0">
                <a:solidFill>
                  <a:schemeClr val="bg1"/>
                </a:solidFill>
              </a:rPr>
              <a:t>,  </a:t>
            </a:r>
          </a:p>
          <a:p>
            <a:pPr lvl="1"/>
            <a:r>
              <a:rPr lang="ko-KR" altLang="en-US" sz="2000" smtClean="0">
                <a:solidFill>
                  <a:schemeClr val="bg1"/>
                </a:solidFill>
              </a:rPr>
              <a:t>서버와 </a:t>
            </a:r>
            <a:r>
              <a:rPr lang="en-US" altLang="ko-KR" sz="2000" smtClean="0">
                <a:solidFill>
                  <a:schemeClr val="bg1"/>
                </a:solidFill>
              </a:rPr>
              <a:t>DB</a:t>
            </a:r>
            <a:r>
              <a:rPr lang="ko-KR" altLang="en-US" sz="2000" dirty="0" smtClean="0">
                <a:solidFill>
                  <a:schemeClr val="bg1"/>
                </a:solidFill>
              </a:rPr>
              <a:t>간에는 동기적 방식의 통신이 요구됨</a:t>
            </a:r>
            <a:r>
              <a:rPr lang="en-US" altLang="ko-KR" sz="2000" dirty="0" smtClean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Tx/>
              <a:buChar char="-"/>
            </a:pPr>
            <a:endParaRPr lang="en-US" altLang="ko-KR" sz="3200" dirty="0" smtClean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dirty="0" smtClean="0">
                <a:solidFill>
                  <a:schemeClr val="bg1"/>
                </a:solidFill>
              </a:rPr>
              <a:t>테스트케이스 작성 문제</a:t>
            </a:r>
            <a:r>
              <a:rPr lang="en-US" altLang="ko-KR" sz="3200" dirty="0" smtClean="0">
                <a:solidFill>
                  <a:schemeClr val="bg1"/>
                </a:solidFill>
              </a:rPr>
              <a:t> </a:t>
            </a:r>
            <a:endParaRPr lang="en-US" altLang="ko-KR" dirty="0" smtClean="0">
              <a:solidFill>
                <a:schemeClr val="bg1"/>
              </a:solidFill>
            </a:endParaRPr>
          </a:p>
          <a:p>
            <a:endParaRPr lang="en-US" altLang="ko-KR" dirty="0" smtClean="0">
              <a:solidFill>
                <a:schemeClr val="bg1"/>
              </a:solidFill>
            </a:endParaRP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187624" y="4581128"/>
            <a:ext cx="64087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ko-KR" altLang="en-US" sz="2000" dirty="0">
                <a:solidFill>
                  <a:schemeClr val="bg1"/>
                </a:solidFill>
              </a:rPr>
              <a:t>완성된 시스템을 테스트하기 위한 테스트케이스 작성에는 많은 양의 수작업이 요구됨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4377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499</Words>
  <Application>Microsoft Office PowerPoint</Application>
  <PresentationFormat>화면 슬라이드 쇼(4:3)</PresentationFormat>
  <Paragraphs>231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meerkat   -프로젝트 중간발표-  </vt:lpstr>
      <vt:lpstr>  1. 프로젝트 개요  2. 시스템 구성도  3. 지식지도 생성 절차  4. 알고리즘 소개  5. 문제점</vt:lpstr>
      <vt:lpstr>1. 프로젝트 개요</vt:lpstr>
      <vt:lpstr>PowerPoint 프레젠테이션</vt:lpstr>
      <vt:lpstr>3. 지식지도 생성절차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모듈 관계도</dc:title>
  <dc:creator>lsh</dc:creator>
  <cp:lastModifiedBy>lsh</cp:lastModifiedBy>
  <cp:revision>67</cp:revision>
  <dcterms:created xsi:type="dcterms:W3CDTF">2014-07-03T12:16:27Z</dcterms:created>
  <dcterms:modified xsi:type="dcterms:W3CDTF">2014-08-04T05:29:07Z</dcterms:modified>
</cp:coreProperties>
</file>